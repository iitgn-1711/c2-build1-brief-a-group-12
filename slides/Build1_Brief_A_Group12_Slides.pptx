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 id="266" r:id="rId31"/>
    <p:sldId id="267" r:id="rId32"/>
    <p:sldId id="268" r:id="rId33"/>
    <p:sldId id="26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6206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question and the claim, nothing else. Twenty seconds. H1 means January to June. We planned 18.21% more tests than last year, we got 5.81%, and that leaves us 54,110 tests short. Clinic fell, Home grew.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Her three asks map to our answer: which part (Clinic), by how much (54,110 tests, 12.40 points of growth), and where (Jaipur, Chennai and Bangalore). Then walk the five steps. The decision this drives: where Operations looks first. A test means one test line in a booking; a visit is one booking.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Point at two things: the top row and the Clinic and Home rows. Top row: test volume = patients x visits per patient x tests per visit. Growth came from more patients (+3.76%) and a few more tests per visit (+2.20%); visits per patient did not change. Bottom rows: Clinic lost patients (-8.3%) and visits per patient (-5.3%); Home gained both (+26.2% and +7.6%). Patient counts use patient IDs; we checked that no two IDs share the same phone and name, so IDs equal real people.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sentence. Stop. Count to two. The silence is the point; the slide has one sentence so the room reads it twice. Honest detail if asked: if Clinic had stayed flat, growth would still be only 13.1%, below the 18.21% plan. Clinic is the drag (-7.31 points) and Home the lift (+13.11 points).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Each number with what it is measured against, said aloud. Number 1: 89.5% of plan, and no month reached plan. Number 2: Clinic -31,885 tests, Home +57,213 tests, net +25,328. Number 3: Bangalore 12,424, Jaipur 10,882, Chennai 10,766 below plan; the six city gaps add up to exactly 54,110. On the chart: amber is Clinic, purple is Home. Clinic is below last year in every city; Jaipur is worst (-22.1%) and its Home growth is also the weakest (+18.8%).</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One main caveat with its size, one data check, one rejected approach. Offer: Home fee was Rs 0 for all 48,869 Home bookings in Jan-Mar 2026 (about Rs 73 lakh of fees given up). Clinic fell 18.1% in those months and 3.9% in Apr-Jun, so part of the Clinic fall may be patients switching. This is a pattern, not proof. Data check: 1,500 rescheduled Nova bookings in Apr-Jun also keep their original booking; 3,541 H1 test lines are the same visit counted twice. Removing them gives 458,089 tests, +4.99%, and the gap becomes 57,651. March was the slowest month (+3.25%); Bangalore Clinic had the biggest drop that month (-2,671 tests). Rejected: lab results table, 357,769 vs 378,358 rows, +5.76%.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Say the four steps, then the cost, then the cost of being wrong. No thanks, no summary. Then say questions and stop talking. Numbers: Clinic lost 31,885 tests in six months; at the average 2026 Clinic price of about Rs 690 that is about Rs 2.2 crore at list price. The data shows where the change happened, not why, so the review checks causes before any big spend.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during questions. When asked why this and not that, open the approach-log row on screen rather than answering from memory.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shown only if the panel asks. Do not present it. Rule 4 is the one to mention honestly: the notebook headline is +5.81%; after removing double-counted rescheduled visits it is +4.99% (458,089 tests, 57,651 below plan, 13.22 points of growth short).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All numbers come from the notebook city table (cell 11): tests 2025, tests 2026, planned tests, tests below plan. Plan growth, share of gap and % of plan are simple divisions of those numbers. Bangalore is counted from both spellings (Bangalore and Bengaluru).</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Source: notebook cell 11 (channel summary) and the city-by-channel counts. Clinic -11.10% (-31,885 tests, -7.31 points of total growth); Home +38.37% (+57,213 tests, +13.11 points). If Clinic had stayed flat, total growth would be +13.11%, still below the 18.21% plan.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Source: notebook cells 13 to 16 and 24 to 25. Monthly plan totals come from plan_2026_H1.csv (sum of the six cities). Cumulative gap in tests versus last year reached +25,328 by June.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Source: home_fee column of bookings_combined.csv, unique bookings, channel Home. Fee was Rs 150 on every Home booking in 2025 and Apr-Jun 2026, and Rs 0 on every Home booking in Jan-Mar 2026 (48,869 bookings x Rs 150 = about Rs 73.3 lakh). Home growth stayed high after the fee returned (+24.0%), so part of the Home gain looks real, not only offer-driven.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Revenue at list price uses test_price from booking_tests: Rs 278,759,748 in Jan-Jun 2025 and Rs 318,029,532 in Jan-Jun 2026. Cold run details (date, person, runtime, commit) are not in the data; fill them in after you rerun the notebook from a fresh environment.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tree.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cities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offer.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monthly.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homebook.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itgn_seal.png"/>
          <p:cNvPicPr>
            <a:picLocks noChangeAspect="1"/>
          </p:cNvPicPr>
          <p:nvPr/>
        </p:nvPicPr>
        <p:blipFill>
          <a:blip r:embed="rId3"/>
          <a:stretch>
            <a:fillRect/>
          </a:stretch>
        </p:blipFill>
        <p:spPr>
          <a:xfrm>
            <a:off x="548640" y="457200"/>
            <a:ext cx="914400" cy="914400"/>
          </a:xfrm>
          <a:prstGeom prst="rect">
            <a:avLst/>
          </a:prstGeom>
        </p:spPr>
      </p:pic>
      <p:sp>
        <p:nvSpPr>
          <p:cNvPr id="4"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5"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6" name="TextBox 5"/>
          <p:cNvSpPr txBox="1"/>
          <p:nvPr/>
        </p:nvSpPr>
        <p:spPr>
          <a:xfrm>
            <a:off x="548640" y="2194560"/>
            <a:ext cx="10972800" cy="276999"/>
          </a:xfrm>
          <a:prstGeom prst="rect">
            <a:avLst/>
          </a:prstGeom>
          <a:noFill/>
        </p:spPr>
        <p:txBody>
          <a:bodyPr wrap="square">
            <a:spAutoFit/>
          </a:bodyPr>
          <a:lstStyle/>
          <a:p>
            <a:pPr algn="l"/>
            <a:r>
              <a:rPr sz="1200" b="1" dirty="0">
                <a:solidFill>
                  <a:srgbClr val="E9B04C"/>
                </a:solidFill>
                <a:latin typeface="Arial"/>
              </a:rPr>
              <a:t>BRIEF </a:t>
            </a:r>
            <a:r>
              <a:rPr lang="en-IN" sz="1200" b="1" dirty="0">
                <a:solidFill>
                  <a:srgbClr val="E9B04C"/>
                </a:solidFill>
                <a:latin typeface="Arial"/>
              </a:rPr>
              <a:t>A</a:t>
            </a:r>
            <a:r>
              <a:rPr sz="1200" b="1" dirty="0">
                <a:solidFill>
                  <a:srgbClr val="E9B04C"/>
                </a:solidFill>
                <a:latin typeface="Arial"/>
              </a:rPr>
              <a:t> · </a:t>
            </a:r>
            <a:r>
              <a:rPr lang="en-IN" sz="1200" b="1" dirty="0">
                <a:solidFill>
                  <a:srgbClr val="E9B04C"/>
                </a:solidFill>
                <a:latin typeface="Arial"/>
              </a:rPr>
              <a:t>GROWTH</a:t>
            </a:r>
            <a:r>
              <a:rPr sz="1200" b="1" dirty="0">
                <a:solidFill>
                  <a:srgbClr val="E9B04C"/>
                </a:solidFill>
                <a:latin typeface="Arial"/>
              </a:rPr>
              <a:t> · GROUP </a:t>
            </a:r>
            <a:r>
              <a:rPr lang="en-IN" sz="1200" b="1" dirty="0">
                <a:solidFill>
                  <a:srgbClr val="E9B04C"/>
                </a:solidFill>
                <a:latin typeface="Arial"/>
              </a:rPr>
              <a:t>12</a:t>
            </a:r>
            <a:endParaRPr sz="1200" b="1" dirty="0">
              <a:solidFill>
                <a:srgbClr val="E9B04C"/>
              </a:solidFill>
              <a:latin typeface="Arial"/>
            </a:endParaRPr>
          </a:p>
        </p:txBody>
      </p:sp>
      <p:sp>
        <p:nvSpPr>
          <p:cNvPr id="7" name="TextBox 6"/>
          <p:cNvSpPr txBox="1"/>
          <p:nvPr/>
        </p:nvSpPr>
        <p:spPr>
          <a:xfrm>
            <a:off x="548640" y="2651760"/>
            <a:ext cx="10972800" cy="707886"/>
          </a:xfrm>
          <a:prstGeom prst="rect">
            <a:avLst/>
          </a:prstGeom>
          <a:noFill/>
        </p:spPr>
        <p:txBody>
          <a:bodyPr wrap="square">
            <a:spAutoFit/>
          </a:bodyPr>
          <a:lstStyle/>
          <a:p>
            <a:pPr algn="l"/>
            <a:r>
              <a:rPr lang="en-IN" sz="4000" b="1" dirty="0">
                <a:solidFill>
                  <a:srgbClr val="FFFFFF"/>
                </a:solidFill>
                <a:latin typeface="Georgia"/>
              </a:rPr>
              <a:t>Which part of my business is short?</a:t>
            </a:r>
          </a:p>
        </p:txBody>
      </p:sp>
      <p:sp>
        <p:nvSpPr>
          <p:cNvPr id="8" name="TextBox 7"/>
          <p:cNvSpPr txBox="1"/>
          <p:nvPr/>
        </p:nvSpPr>
        <p:spPr>
          <a:xfrm>
            <a:off x="548640" y="4206240"/>
            <a:ext cx="10058400" cy="731520"/>
          </a:xfrm>
          <a:prstGeom prst="rect">
            <a:avLst/>
          </a:prstGeom>
          <a:noFill/>
        </p:spPr>
        <p:txBody>
          <a:bodyPr wrap="square">
            <a:spAutoFit/>
          </a:bodyPr>
          <a:lstStyle/>
          <a:p>
            <a:pPr algn="l"/>
            <a:r>
              <a:rPr sz="1800" b="0">
                <a:solidFill>
                  <a:srgbClr val="DCD6F7"/>
                </a:solidFill>
                <a:latin typeface="Arial"/>
              </a:rPr>
              <a:t>Tests grew 5.81% in H1 2026 (461,630 vs 436,302 tests) against an 18.21% plan, so we are 54,110 tests short. Clinic fell 11.1% while Home collection grew 38.4%.</a:t>
            </a:r>
          </a:p>
        </p:txBody>
      </p:sp>
      <p:sp>
        <p:nvSpPr>
          <p:cNvPr id="9" name="TextBox 8"/>
          <p:cNvSpPr txBox="1"/>
          <p:nvPr/>
        </p:nvSpPr>
        <p:spPr>
          <a:xfrm>
            <a:off x="548640" y="5852160"/>
            <a:ext cx="10972800" cy="276999"/>
          </a:xfrm>
          <a:prstGeom prst="rect">
            <a:avLst/>
          </a:prstGeom>
          <a:noFill/>
        </p:spPr>
        <p:txBody>
          <a:bodyPr wrap="square">
            <a:spAutoFit/>
          </a:bodyPr>
          <a:lstStyle/>
          <a:p>
            <a:pPr algn="l"/>
            <a:r>
              <a:rPr lang="en-IN" sz="1200" b="0" dirty="0">
                <a:solidFill>
                  <a:srgbClr val="B9B0E6"/>
                </a:solidFill>
                <a:latin typeface="Arial"/>
              </a:rPr>
              <a:t>Gurunath Hirve</a:t>
            </a:r>
            <a:r>
              <a:rPr sz="1200" b="0" dirty="0">
                <a:solidFill>
                  <a:srgbClr val="B9B0E6"/>
                </a:solidFill>
                <a:latin typeface="Arial"/>
              </a:rPr>
              <a:t> ·</a:t>
            </a:r>
            <a:r>
              <a:rPr lang="en-IN" sz="1200" b="0" dirty="0">
                <a:solidFill>
                  <a:srgbClr val="B9B0E6"/>
                </a:solidFill>
                <a:latin typeface="Arial"/>
              </a:rPr>
              <a:t> Harshit Agrawal </a:t>
            </a:r>
            <a:r>
              <a:rPr sz="1200" b="0" dirty="0">
                <a:solidFill>
                  <a:srgbClr val="B9B0E6"/>
                </a:solidFill>
                <a:latin typeface="Arial"/>
              </a:rPr>
              <a:t>· </a:t>
            </a:r>
            <a:r>
              <a:rPr lang="en-IN" sz="1200" b="0" dirty="0">
                <a:solidFill>
                  <a:srgbClr val="B9B0E6"/>
                </a:solidFill>
                <a:latin typeface="Arial"/>
              </a:rPr>
              <a:t>Mihir Soni</a:t>
            </a:r>
            <a:endParaRPr sz="1200" b="0" dirty="0">
              <a:solidFill>
                <a:srgbClr val="B9B0E6"/>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The problem and the approach we use</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400"/>
              </a:spcAft>
            </a:pPr>
            <a:r>
              <a:rPr sz="1600" b="1" dirty="0">
                <a:solidFill>
                  <a:srgbClr val="1A1440"/>
                </a:solidFill>
                <a:latin typeface="Arial"/>
              </a:rPr>
              <a:t>The problem</a:t>
            </a:r>
          </a:p>
          <a:p>
            <a:pPr algn="l" marL="342900" indent="-342900">
              <a:spcAft>
                <a:spcPts val="500"/>
              </a:spcAft>
              <a:buFont typeface="Arial"/>
              <a:buChar char="•"/>
            </a:pPr>
            <a:r>
              <a:rPr sz="1600" b="0" dirty="0">
                <a:solidFill>
                  <a:srgbClr val="1A1440"/>
                </a:solidFill>
                <a:latin typeface="Arial"/>
              </a:rPr>
              <a:t>Her words: “Show me the part of my business that is short, by how much, and where.”</a:t>
            </a:r>
          </a:p>
          <a:p>
            <a:pPr algn="l" marL="342900" indent="-342900">
              <a:spcAft>
                <a:spcPts val="500"/>
              </a:spcAft>
              <a:buFont typeface="Arial"/>
              <a:buChar char="•"/>
            </a:pPr>
            <a:r>
              <a:rPr sz="1600" b="0" dirty="0">
                <a:solidFill>
                  <a:srgbClr val="1A1440"/>
                </a:solidFill>
                <a:latin typeface="Arial"/>
              </a:rPr>
              <a:t>We planned 18.21% more tests in Jan–Jun 2026 (H1 2026) than in Jan–Jun 2025. We got only 5.81% more: 461,630 vs 436,302 tests.</a:t>
            </a:r>
          </a:p>
          <a:p>
            <a:pPr algn="l" marL="342900" indent="-342900">
              <a:spcAft>
                <a:spcPts val="500"/>
              </a:spcAft>
              <a:buFont typeface="Arial"/>
              <a:buChar char="•"/>
            </a:pPr>
            <a:r>
              <a:rPr sz="1600" b="0" dirty="0">
                <a:solidFill>
                  <a:srgbClr val="1A1440"/>
                </a:solidFill>
                <a:latin typeface="Arial"/>
              </a:rPr>
              <a:t>That leaves us 54,110 tests short of the plan (515,740 tests).</a:t>
            </a:r>
          </a:p>
          <a:p>
            <a:pPr algn="l"/>
            <a:endParaRPr sz="1600" b="0" dirty="0"/>
          </a:p>
          <a:p>
            <a:pPr algn="l">
              <a:spcBef>
                <a:spcPts val="900"/>
              </a:spcBef>
              <a:spcAft>
                <a:spcPts val="400"/>
              </a:spcAft>
            </a:pPr>
            <a:r>
              <a:rPr sz="1600" b="1" dirty="0">
                <a:solidFill>
                  <a:srgbClr val="1A1440"/>
                </a:solidFill>
                <a:latin typeface="Arial"/>
              </a:rPr>
              <a:t>The approach we use, step by step</a:t>
            </a:r>
          </a:p>
          <a:p>
            <a:pPr algn="l" marL="342900" indent="-342900">
              <a:spcAft>
                <a:spcPts val="500"/>
              </a:spcAft>
              <a:buFont typeface="+mj-lt"/>
              <a:buAutoNum type="arabicPeriod"/>
            </a:pPr>
            <a:r>
              <a:rPr sz="1600" b="0" dirty="0">
                <a:solidFill>
                  <a:srgbClr val="1A1440"/>
                </a:solidFill>
                <a:latin typeface="Arial"/>
              </a:rPr>
              <a:t>Count every booked test in Jan–Jun 2025 and Jan–Jun 2026.</a:t>
            </a:r>
          </a:p>
          <a:p>
            <a:pPr algn="l" marL="342900" indent="-342900">
              <a:spcAft>
                <a:spcPts val="500"/>
              </a:spcAft>
              <a:buFont typeface="+mj-lt"/>
              <a:buAutoNum type="arabicPeriod"/>
            </a:pPr>
            <a:r>
              <a:rPr sz="1600" b="0" dirty="0">
                <a:solidFill>
                  <a:srgbClr val="1A1440"/>
                </a:solidFill>
                <a:latin typeface="Arial"/>
              </a:rPr>
              <a:t>Split the growth into patients × visits per patient × tests per visit.</a:t>
            </a:r>
          </a:p>
          <a:p>
            <a:pPr algn="l" marL="342900" indent="-342900">
              <a:spcAft>
                <a:spcPts val="500"/>
              </a:spcAft>
              <a:buFont typeface="+mj-lt"/>
              <a:buAutoNum type="arabicPeriod"/>
            </a:pPr>
            <a:r>
              <a:rPr sz="1600" b="0" dirty="0">
                <a:solidFill>
                  <a:srgbClr val="1A1440"/>
                </a:solidFill>
                <a:latin typeface="Arial"/>
              </a:rPr>
              <a:t>Compare each city with its plan, then split each city into Clinic and Home.</a:t>
            </a:r>
          </a:p>
          <a:p>
            <a:pPr algn="l" marL="342900" indent="-342900">
              <a:spcAft>
                <a:spcPts val="500"/>
              </a:spcAft>
              <a:buFont typeface="+mj-lt"/>
              <a:buAutoNum type="arabicPeriod"/>
            </a:pPr>
            <a:r>
              <a:rPr sz="1600" b="0" dirty="0">
                <a:solidFill>
                  <a:srgbClr val="1A1440"/>
                </a:solidFill>
                <a:latin typeface="Arial"/>
              </a:rPr>
              <a:t>Look month by month to see when growth slowed.</a:t>
            </a:r>
          </a:p>
          <a:p>
            <a:pPr algn="l" marL="342900" indent="-342900">
              <a:spcAft>
                <a:spcPts val="500"/>
              </a:spcAft>
              <a:buFont typeface="+mj-lt"/>
              <a:buAutoNum type="arabicPeriod"/>
            </a:pPr>
            <a:r>
              <a:rPr sz="1600" b="0" dirty="0">
                <a:solidFill>
                  <a:srgbClr val="1A1440"/>
                </a:solidFill>
                <a:latin typeface="Arial"/>
              </a:rPr>
              <a:t>Decide where Operations should look first.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What grew: patients, visits and tests</a:t>
            </a:r>
          </a:p>
        </p:txBody>
      </p:sp>
      <p:sp>
        <p:nvSpPr>
          <p:cNvPr id="8"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Tree chart" descr="Test volume split into patients, visits per patient and tests per visit, with channel split"/>
          <p:cNvPicPr>
            <a:picLocks noChangeAspect="1"/>
          </p:cNvPicPr>
          <p:nvPr/>
        </p:nvPicPr>
        <p:blipFill>
          <a:blip r:embed="rId4"/>
          <a:stretch>
            <a:fillRect/>
          </a:stretch>
        </p:blipFill>
        <p:spPr>
          <a:xfrm>
            <a:off x="548640" y="1737360"/>
            <a:ext cx="11064240" cy="40233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600" b="1">
                <a:solidFill>
                  <a:srgbClr val="1A1440"/>
                </a:solidFill>
                <a:latin typeface="Georgia"/>
              </a:rPr>
              <a:t>We are 54,110 tests short of plan</a:t>
            </a:r>
          </a:p>
        </p:txBody>
      </p:sp>
      <p:sp>
        <p:nvSpPr>
          <p:cNvPr id="8" name="Rounded Rectangle 7"/>
          <p:cNvSpPr/>
          <p:nvPr/>
        </p:nvSpPr>
        <p:spPr>
          <a:xfrm>
            <a:off x="457200" y="2011680"/>
            <a:ext cx="11247120" cy="2377440"/>
          </a:xfrm>
          <a:prstGeom prst="roundRect">
            <a:avLst>
              <a:gd name="adj" fmla="val 8000"/>
            </a:avLst>
          </a:prstGeom>
          <a:solidFill>
            <a:srgbClr val="EE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286000"/>
            <a:ext cx="10515600" cy="1828800"/>
          </a:xfrm>
          <a:prstGeom prst="rect">
            <a:avLst/>
          </a:prstGeom>
          <a:noFill/>
        </p:spPr>
        <p:txBody>
          <a:bodyPr wrap="square">
            <a:spAutoFit/>
          </a:bodyPr>
          <a:lstStyle/>
          <a:p>
            <a:pPr algn="ctr"/>
            <a:r>
              <a:rPr sz="2800" b="1">
                <a:solidFill>
                  <a:srgbClr val="1A0F5C"/>
                </a:solidFill>
                <a:latin typeface="Georgia"/>
              </a:rPr>
              <a:t>Tests grew 5.81% in H1 2026 (461,630 vs 436,302), not the 18.21% planned. Clinic fell 11.1% and is below last year in all six cities; Home grew 38.4%.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Clinic is down in every city; Home is up</a:t>
            </a:r>
          </a:p>
        </p:txBody>
      </p:sp>
      <p:sp>
        <p:nvSpPr>
          <p:cNvPr id="8" name="TextBox 7"/>
          <p:cNvSpPr txBox="1"/>
          <p:nvPr/>
        </p:nvSpPr>
        <p:spPr>
          <a:xfrm>
            <a:off x="457200" y="1645920"/>
            <a:ext cx="4754880" cy="4114800"/>
          </a:xfrm>
          <a:prstGeom prst="rect">
            <a:avLst/>
          </a:prstGeom>
          <a:noFill/>
        </p:spPr>
        <p:txBody>
          <a:bodyPr wrap="square">
            <a:spAutoFit/>
          </a:bodyPr>
          <a:lstStyle/>
          <a:p>
            <a:pPr algn="l"/>
            <a:r>
              <a:rPr sz="1500" b="1">
                <a:solidFill>
                  <a:srgbClr val="1A1440"/>
                </a:solidFill>
                <a:latin typeface="Arial"/>
              </a:rPr>
              <a:t>Number 1: 461,630</a:t>
            </a:r>
            <a:r>
              <a:rPr sz="1500" b="0">
                <a:solidFill>
                  <a:srgbClr val="1A1440"/>
                </a:solidFill>
                <a:latin typeface="Arial"/>
              </a:rPr>
              <a:t> of 515,740 planned tests (89.5%), Jan–Jun 2026. Every month was between 87% and 93% of plan.</a:t>
            </a:r>
          </a:p>
          <a:p>
            <a:pPr algn="l"/>
            <a:endParaRPr sz="1500" b="0"/>
          </a:p>
          <a:p>
            <a:pPr algn="l"/>
            <a:r>
              <a:rPr sz="1500" b="1">
                <a:solidFill>
                  <a:srgbClr val="1A1440"/>
                </a:solidFill>
                <a:latin typeface="Arial"/>
              </a:rPr>
              <a:t>Number 2: Clinic −11.1%</a:t>
            </a:r>
            <a:r>
              <a:rPr sz="1500" b="0">
                <a:solidFill>
                  <a:srgbClr val="1A1440"/>
                </a:solidFill>
                <a:latin typeface="Arial"/>
              </a:rPr>
              <a:t> (255,301 vs 287,186 tests) and </a:t>
            </a:r>
            <a:r>
              <a:rPr sz="1500" b="1">
                <a:solidFill>
                  <a:srgbClr val="1A1440"/>
                </a:solidFill>
                <a:latin typeface="Arial"/>
              </a:rPr>
              <a:t>Home +38.4%</a:t>
            </a:r>
            <a:r>
              <a:rPr sz="1500" b="0">
                <a:solidFill>
                  <a:srgbClr val="1A1440"/>
                </a:solidFill>
                <a:latin typeface="Arial"/>
              </a:rPr>
              <a:t> (206,329 vs 149,116 tests), Jan–Jun 2026 vs 2025.</a:t>
            </a:r>
          </a:p>
          <a:p>
            <a:pPr algn="l"/>
            <a:endParaRPr sz="1500" b="0"/>
          </a:p>
          <a:p>
            <a:pPr algn="l"/>
            <a:r>
              <a:rPr sz="1500" b="1">
                <a:solidFill>
                  <a:srgbClr val="1A1440"/>
                </a:solidFill>
                <a:latin typeface="Arial"/>
              </a:rPr>
              <a:t>Number 3: 34,072</a:t>
            </a:r>
            <a:r>
              <a:rPr sz="1500" b="0">
                <a:solidFill>
                  <a:srgbClr val="1A1440"/>
                </a:solidFill>
                <a:latin typeface="Arial"/>
              </a:rPr>
              <a:t> of the 54,110 missing tests (63%) are in Bangalore, Jaipur and Chennai. Jaipur is the only city with fewer tests than last year (−8.1%).</a:t>
            </a:r>
          </a:p>
        </p:txBody>
      </p:sp>
      <p:sp>
        <p:nvSpPr>
          <p:cNvPr id="9"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City chart" descr="Clinic and Home change by city with tests below plan"/>
          <p:cNvPicPr>
            <a:picLocks noChangeAspect="1"/>
          </p:cNvPicPr>
          <p:nvPr/>
        </p:nvPicPr>
        <p:blipFill>
          <a:blip r:embed="rId4"/>
          <a:stretch>
            <a:fillRect/>
          </a:stretch>
        </p:blipFill>
        <p:spPr>
          <a:xfrm>
            <a:off x="5577840" y="1737360"/>
            <a:ext cx="6035040" cy="4023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What could change the answer</a:t>
            </a:r>
          </a:p>
        </p:txBody>
      </p:sp>
      <p:sp>
        <p:nvSpPr>
          <p:cNvPr id="8" name="TextBox 7"/>
          <p:cNvSpPr txBox="1"/>
          <p:nvPr/>
        </p:nvSpPr>
        <p:spPr>
          <a:xfrm>
            <a:off x="457200" y="1645920"/>
            <a:ext cx="5577840" cy="4389120"/>
          </a:xfrm>
          <a:prstGeom prst="rect">
            <a:avLst/>
          </a:prstGeom>
          <a:noFill/>
        </p:spPr>
        <p:txBody>
          <a:bodyPr wrap="square">
            <a:spAutoFit/>
          </a:bodyPr>
          <a:lstStyle/>
          <a:p>
            <a:pPr algn="l">
              <a:spcAft>
                <a:spcPts val="400"/>
              </a:spcAft>
            </a:pPr>
            <a:r>
              <a:rPr sz="1400" b="1">
                <a:solidFill>
                  <a:srgbClr val="1A1440"/>
                </a:solidFill>
                <a:latin typeface="Arial"/>
              </a:rPr>
              <a:t>The free home offer (main caveat)</a:t>
            </a:r>
          </a:p>
          <a:p>
            <a:pPr algn="l" marL="342900" indent="-342900">
              <a:spcAft>
                <a:spcPts val="500"/>
              </a:spcAft>
              <a:buFont typeface="Arial"/>
              <a:buChar char="•"/>
            </a:pPr>
            <a:r>
              <a:rPr sz="1400" b="0">
                <a:solidFill>
                  <a:srgbClr val="1A1440"/>
                </a:solidFill>
                <a:latin typeface="Arial"/>
              </a:rPr>
              <a:t>Home collection was free in Jan–Mar 2026 (the ₹150 fee was ₹0).</a:t>
            </a:r>
          </a:p>
          <a:p>
            <a:pPr algn="l" marL="342900" indent="-342900">
              <a:spcAft>
                <a:spcPts val="500"/>
              </a:spcAft>
              <a:buFont typeface="Arial"/>
              <a:buChar char="•"/>
            </a:pPr>
            <a:r>
              <a:rPr sz="1400" b="0">
                <a:solidFill>
                  <a:srgbClr val="1A1440"/>
                </a:solidFill>
                <a:latin typeface="Arial"/>
              </a:rPr>
              <a:t>In those 3 months Clinic fell 18.1%. After the fee came back, Clinic fell only 3.9%.</a:t>
            </a:r>
          </a:p>
          <a:p>
            <a:pPr algn="l" marL="342900" indent="-342900">
              <a:spcAft>
                <a:spcPts val="500"/>
              </a:spcAft>
              <a:buFont typeface="Arial"/>
              <a:buChar char="•"/>
            </a:pPr>
            <a:r>
              <a:rPr sz="1400" b="0">
                <a:solidFill>
                  <a:srgbClr val="1A1440"/>
                </a:solidFill>
                <a:latin typeface="Arial"/>
              </a:rPr>
              <a:t>So some Clinic patients may have moved to Home, not left us. We have not tested this yet.</a:t>
            </a:r>
          </a:p>
          <a:p>
            <a:pPr algn="l">
              <a:spcBef>
                <a:spcPts val="900"/>
              </a:spcBef>
              <a:spcAft>
                <a:spcPts val="400"/>
              </a:spcAft>
            </a:pPr>
            <a:r>
              <a:rPr sz="1400" b="1">
                <a:solidFill>
                  <a:srgbClr val="1A1440"/>
                </a:solidFill>
                <a:latin typeface="Arial"/>
              </a:rPr>
              <a:t>A data check</a:t>
            </a:r>
          </a:p>
          <a:p>
            <a:pPr algn="l" marL="342900" indent="-342900">
              <a:spcAft>
                <a:spcPts val="500"/>
              </a:spcAft>
              <a:buFont typeface="Arial"/>
              <a:buChar char="•"/>
            </a:pPr>
            <a:r>
              <a:rPr sz="1400" b="0">
                <a:solidFill>
                  <a:srgbClr val="1A1440"/>
                </a:solidFill>
                <a:latin typeface="Arial"/>
              </a:rPr>
              <a:t>1,500 rescheduled visits (Apr–Jun) are counted twice: 3,541 test lines. Without them, growth is +4.99%, not +5.81%.</a:t>
            </a:r>
          </a:p>
          <a:p>
            <a:pPr algn="l">
              <a:spcBef>
                <a:spcPts val="900"/>
              </a:spcBef>
              <a:spcAft>
                <a:spcPts val="400"/>
              </a:spcAft>
            </a:pPr>
            <a:r>
              <a:rPr sz="1400" b="1">
                <a:solidFill>
                  <a:srgbClr val="1A1440"/>
                </a:solidFill>
                <a:latin typeface="Arial"/>
              </a:rPr>
              <a:t>The approach we rejected</a:t>
            </a:r>
          </a:p>
          <a:p>
            <a:pPr algn="l" marL="342900" indent="-342900">
              <a:spcAft>
                <a:spcPts val="500"/>
              </a:spcAft>
              <a:buFont typeface="Arial"/>
              <a:buChar char="•"/>
            </a:pPr>
            <a:r>
              <a:rPr sz="1400" b="0">
                <a:solidFill>
                  <a:srgbClr val="1A1440"/>
                </a:solidFill>
                <a:latin typeface="Arial"/>
              </a:rPr>
              <a:t>Counting lab results instead of bookings. Results exist for only 82% of booked tests, and the plan follows bookings. Growth would be +5.76%, almost the same.</a:t>
            </a:r>
          </a:p>
        </p:txBody>
      </p:sp>
      <p:sp>
        <p:nvSpPr>
          <p:cNvPr id="30" name="Rounded Rectangle 8"/>
          <p:cNvSpPr/>
          <p:nvPr/>
        </p:nvSpPr>
        <p:spPr>
          <a:xfrm>
            <a:off x="6217920" y="1645920"/>
            <a:ext cx="548640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Monthly chart" descr="Monthly change in tests by channel, with free home collection months shaded"/>
          <p:cNvPicPr>
            <a:picLocks noChangeAspect="1"/>
          </p:cNvPicPr>
          <p:nvPr/>
        </p:nvPicPr>
        <p:blipFill>
          <a:blip r:embed="rId4"/>
          <a:stretch>
            <a:fillRect/>
          </a:stretch>
        </p:blipFill>
        <p:spPr>
          <a:xfrm>
            <a:off x="6309360" y="1737360"/>
            <a:ext cx="5303520" cy="4023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Our solution: a four-week Clinic review</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400"/>
              </a:spcAft>
            </a:pPr>
            <a:r>
              <a:rPr sz="1500" b="1">
                <a:solidFill>
                  <a:srgbClr val="1A1440"/>
                </a:solidFill>
                <a:latin typeface="Arial"/>
              </a:rPr>
              <a:t>Do (starting Monday), step by step</a:t>
            </a:r>
          </a:p>
          <a:p>
            <a:pPr algn="l" marL="342900" indent="-342900">
              <a:spcAft>
                <a:spcPts val="500"/>
              </a:spcAft>
              <a:buFont typeface="+mj-lt"/>
              <a:buAutoNum type="arabicPeriod"/>
            </a:pPr>
            <a:r>
              <a:rPr sz="1500" b="0">
                <a:solidFill>
                  <a:srgbClr val="1A1440"/>
                </a:solidFill>
                <a:latin typeface="Arial"/>
              </a:rPr>
              <a:t>Report Clinic and Home separately from now on.</a:t>
            </a:r>
          </a:p>
          <a:p>
            <a:pPr algn="l" marL="342900" indent="-342900">
              <a:spcAft>
                <a:spcPts val="500"/>
              </a:spcAft>
              <a:buFont typeface="+mj-lt"/>
              <a:buAutoNum type="arabicPeriod"/>
            </a:pPr>
            <a:r>
              <a:rPr sz="1500" b="0">
                <a:solidFill>
                  <a:srgbClr val="1A1440"/>
                </a:solidFill>
                <a:latin typeface="Arial"/>
              </a:rPr>
              <a:t>Start a four-week Clinic review: Jaipur (Clinic −22.1%), Chennai (−13.1%) and Bangalore (−10.1%) first.</a:t>
            </a:r>
          </a:p>
          <a:p>
            <a:pPr algn="l" marL="342900" indent="-342900">
              <a:spcAft>
                <a:spcPts val="500"/>
              </a:spcAft>
              <a:buFont typeface="+mj-lt"/>
              <a:buAutoNum type="arabicPeriod"/>
            </a:pPr>
            <a:r>
              <a:rPr sz="1500" b="0">
                <a:solidFill>
                  <a:srgbClr val="1A1440"/>
                </a:solidFill>
                <a:latin typeface="Arial"/>
              </a:rPr>
              <a:t>Check three things: open clinic slots, clinic capacity, and how many bookings turn into visits.</a:t>
            </a:r>
          </a:p>
          <a:p>
            <a:pPr algn="l" marL="342900" indent="-342900">
              <a:spcAft>
                <a:spcPts val="500"/>
              </a:spcAft>
              <a:buFont typeface="+mj-lt"/>
              <a:buAutoNum type="arabicPeriod"/>
            </a:pPr>
            <a:r>
              <a:rPr sz="1500" b="0">
                <a:solidFill>
                  <a:srgbClr val="1A1440"/>
                </a:solidFill>
                <a:latin typeface="Arial"/>
              </a:rPr>
              <a:t>Hold the free-home offer money until a small test shows who the offer reached.</a:t>
            </a:r>
          </a:p>
          <a:p>
            <a:pPr algn="l">
              <a:spcBef>
                <a:spcPts val="900"/>
              </a:spcBef>
              <a:spcAft>
                <a:spcPts val="400"/>
              </a:spcAft>
            </a:pPr>
            <a:r>
              <a:rPr sz="1500" b="1">
                <a:solidFill>
                  <a:srgbClr val="1A1440"/>
                </a:solidFill>
                <a:latin typeface="Arial"/>
              </a:rPr>
              <a:t>It costs</a:t>
            </a:r>
          </a:p>
          <a:p>
            <a:pPr algn="l" marL="342900" indent="-342900">
              <a:spcAft>
                <a:spcPts val="500"/>
              </a:spcAft>
              <a:buFont typeface="Arial"/>
              <a:buChar char="•"/>
            </a:pPr>
            <a:r>
              <a:rPr sz="1500" b="0">
                <a:solidFill>
                  <a:srgbClr val="1A1440"/>
                </a:solidFill>
                <a:latin typeface="Arial"/>
              </a:rPr>
              <a:t>Team time for the four-week review. The Q1 offer gave up about ₹73 lakh in home fees (48,869 bookings × ₹150).</a:t>
            </a:r>
          </a:p>
          <a:p>
            <a:pPr algn="l">
              <a:spcBef>
                <a:spcPts val="900"/>
              </a:spcBef>
              <a:spcAft>
                <a:spcPts val="400"/>
              </a:spcAft>
            </a:pPr>
            <a:r>
              <a:rPr sz="1500" b="1">
                <a:solidFill>
                  <a:srgbClr val="1A1440"/>
                </a:solidFill>
                <a:latin typeface="Arial"/>
              </a:rPr>
              <a:t>If we are wrong, it costs</a:t>
            </a:r>
          </a:p>
          <a:p>
            <a:pPr algn="l" marL="342900" indent="-342900">
              <a:spcAft>
                <a:spcPts val="500"/>
              </a:spcAft>
              <a:buFont typeface="Arial"/>
              <a:buChar char="•"/>
            </a:pPr>
            <a:r>
              <a:rPr sz="1500" b="0">
                <a:solidFill>
                  <a:srgbClr val="1A1440"/>
                </a:solidFill>
                <a:latin typeface="Arial"/>
              </a:rPr>
              <a:t>If the Clinic loss is real and we wait six months: about 31,885 Clinic tests stay lost (about ₹2.2 crore at ₹690 a test).</a:t>
            </a:r>
          </a:p>
          <a:p>
            <a:pPr algn="l" marL="342900" indent="-342900">
              <a:spcAft>
                <a:spcPts val="500"/>
              </a:spcAft>
              <a:buFont typeface="Arial"/>
              <a:buChar char="•"/>
            </a:pPr>
            <a:r>
              <a:rPr sz="1500" b="0">
                <a:solidFill>
                  <a:srgbClr val="1A1440"/>
                </a:solidFill>
                <a:latin typeface="Arial"/>
              </a:rPr>
              <a:t>If the offer created real new demand and we stop it: we may lose part of the extra Home tests (+39,555 in Q1).</a:t>
            </a:r>
          </a:p>
          <a:p>
            <a:pPr algn="l">
              <a:spcBef>
                <a:spcPts val="900"/>
              </a:spcBef>
              <a:spcAft>
                <a:spcPts val="400"/>
              </a:spcAft>
            </a:pPr>
            <a:r>
              <a:rPr sz="1500" b="1">
                <a:solidFill>
                  <a:srgbClr val="1A1440"/>
                </a:solidFill>
                <a:latin typeface="Arial"/>
              </a:rPr>
              <a:t>With two more days</a:t>
            </a:r>
          </a:p>
          <a:p>
            <a:pPr algn="l" marL="342900" indent="-342900">
              <a:spcAft>
                <a:spcPts val="500"/>
              </a:spcAft>
              <a:buFont typeface="Arial"/>
              <a:buChar char="•"/>
            </a:pPr>
            <a:r>
              <a:rPr sz="1500" b="0">
                <a:solidFill>
                  <a:srgbClr val="1A1440"/>
                </a:solidFill>
                <a:latin typeface="Arial"/>
              </a:rPr>
              <a:t>Find out who used the free offer, and remove the double-counted rescheduled visits (headline becomes +4.99%).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4" name="TextBox 3"/>
          <p:cNvSpPr txBox="1"/>
          <p:nvPr/>
        </p:nvSpPr>
        <p:spPr>
          <a:xfrm>
            <a:off x="548640" y="3657600"/>
            <a:ext cx="10058400" cy="914400"/>
          </a:xfrm>
          <a:prstGeom prst="rect">
            <a:avLst/>
          </a:prstGeom>
          <a:noFill/>
        </p:spPr>
        <p:txBody>
          <a:bodyPr wrap="square">
            <a:spAutoFit/>
          </a:bodyPr>
          <a:lstStyle/>
          <a:p>
            <a:pPr algn="l"/>
            <a:r>
              <a:rPr sz="1600" b="0" dirty="0">
                <a:solidFill>
                  <a:srgbClr val="DCD6F7"/>
                </a:solidFill>
                <a:latin typeface="Arial"/>
              </a:rPr>
              <a:t>The approach log, the decisions log and the challenges log are open in the repository:</a:t>
            </a:r>
            <a:r>
              <a:rPr lang="en-IN" sz="1600" b="0" dirty="0">
                <a:solidFill>
                  <a:srgbClr val="DCD6F7"/>
                </a:solidFill>
                <a:latin typeface="Arial"/>
              </a:rPr>
              <a:t> </a:t>
            </a:r>
          </a:p>
          <a:p>
            <a:pPr algn="l"/>
            <a:r>
              <a:rPr lang="en-IN" sz="1600" b="0" dirty="0">
                <a:solidFill>
                  <a:srgbClr val="DCD6F7"/>
                </a:solidFill>
                <a:latin typeface="Arial"/>
              </a:rPr>
              <a:t>https://github.com/iitgn-1711/c2-build1-brief-a-group-12.git</a:t>
            </a:r>
            <a:r>
              <a:rPr sz="1600" b="0" dirty="0">
                <a:solidFill>
                  <a:srgbClr val="DCD6F7"/>
                </a:solidFill>
                <a:latin typeface="Arial"/>
              </a:rPr>
              <a:t> </a:t>
            </a:r>
          </a:p>
          <a:p>
            <a:pPr algn="l"/>
            <a:r>
              <a:rPr sz="1600" b="0" dirty="0">
                <a:solidFill>
                  <a:srgbClr val="DCD6F7"/>
                </a:solidFill>
                <a:latin typeface="Arial"/>
              </a:rPr>
              <a:t>Backup slides follow: A decisions · B cities · C city and channel · D months · E free home offer · F data checks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A</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Appendix 1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A · The decisions that moved the headline</a:t>
            </a:r>
          </a:p>
        </p:txBody>
      </p:sp>
      <p:sp>
        <p:nvSpPr>
          <p:cNvPr id="8" name="TextBox 7"/>
          <p:cNvSpPr txBox="1"/>
          <p:nvPr/>
        </p:nvSpPr>
        <p:spPr>
          <a:xfrm>
            <a:off x="457200" y="1645920"/>
            <a:ext cx="11247120" cy="4206240"/>
          </a:xfrm>
          <a:prstGeom prst="rect">
            <a:avLst/>
          </a:prstGeom>
          <a:noFill/>
        </p:spPr>
        <p:txBody>
          <a:bodyPr wrap="square">
            <a:spAutoFit/>
          </a:bodyPr>
          <a:lstStyle/>
          <a:p>
            <a:pPr algn="l" marL="342900" indent="-342900">
              <a:spcAft>
                <a:spcPts val="500"/>
              </a:spcAft>
              <a:buFont typeface="Arial"/>
              <a:buChar char="•"/>
            </a:pPr>
            <a:r>
              <a:rPr sz="1500" b="1">
                <a:solidFill>
                  <a:srgbClr val="1A1440"/>
                </a:solidFill>
                <a:latin typeface="Arial"/>
              </a:rPr>
              <a:t>Rule 1: </a:t>
            </a:r>
            <a:r>
              <a:rPr sz="1500" b="0">
                <a:solidFill>
                  <a:srgbClr val="1A1440"/>
                </a:solidFill>
                <a:latin typeface="Arial"/>
              </a:rPr>
              <a:t>Count test lines from booking_tests.csv (1,315,183 rows over 18 months), keeping only Jan–Jun 2025 and Jan–Jun 2026. The lab results table has rows for only 82% of tests and gives +5.76%, so it was not used. Effect on the headline: none (this is the base).</a:t>
            </a:r>
          </a:p>
          <a:p>
            <a:pPr algn="l" marL="342900" indent="-342900">
              <a:spcAft>
                <a:spcPts val="500"/>
              </a:spcAft>
              <a:buFont typeface="Arial"/>
              <a:buChar char="•"/>
            </a:pPr>
            <a:r>
              <a:rPr sz="1500" b="1">
                <a:solidFill>
                  <a:srgbClr val="1A1440"/>
                </a:solidFill>
                <a:latin typeface="Arial"/>
              </a:rPr>
              <a:t>Rule 2: </a:t>
            </a:r>
            <a:r>
              <a:rPr sz="1500" b="0">
                <a:solidFill>
                  <a:srgbClr val="1A1440"/>
                </a:solidFill>
                <a:latin typeface="Arial"/>
              </a:rPr>
              <a:t>Remove repeated booking rows: 1,279,308 rows become 568,007 unique booking IDs (711,301 exact repeats). No booking ID has two different cities, channels or sources. Effect: none on test counts; each test stays linked to one booking.</a:t>
            </a:r>
          </a:p>
          <a:p>
            <a:pPr algn="l" marL="342900" indent="-342900">
              <a:spcAft>
                <a:spcPts val="500"/>
              </a:spcAft>
              <a:buFont typeface="Arial"/>
              <a:buChar char="•"/>
            </a:pPr>
            <a:r>
              <a:rPr sz="1500" b="1">
                <a:solidFill>
                  <a:srgbClr val="1A1440"/>
                </a:solidFill>
                <a:latin typeface="Arial"/>
              </a:rPr>
              <a:t>Rule 3: </a:t>
            </a:r>
            <a:r>
              <a:rPr sz="1500" b="0">
                <a:solidFill>
                  <a:srgbClr val="1A1440"/>
                </a:solidFill>
                <a:latin typeface="Arial"/>
              </a:rPr>
              <a:t>Clean names: “Bengaluru” (107,661 test rows) becomes “Bangalore”, and CLINIC / HOME in capitals (26,543 Nova bookings) becomes Clinic / Home. 0 test rows are left without a channel. Effect: none on the total; without this Bangalore would split into two cities.</a:t>
            </a:r>
          </a:p>
          <a:p>
            <a:pPr algn="l" marL="342900" indent="-342900">
              <a:spcAft>
                <a:spcPts val="500"/>
              </a:spcAft>
              <a:buFont typeface="Arial"/>
              <a:buChar char="•"/>
            </a:pPr>
            <a:r>
              <a:rPr sz="1500" b="1">
                <a:solidFill>
                  <a:srgbClr val="1A1440"/>
                </a:solidFill>
                <a:latin typeface="Arial"/>
              </a:rPr>
              <a:t>Rule 4 (still open): </a:t>
            </a:r>
            <a:r>
              <a:rPr sz="1500" b="0">
                <a:solidFill>
                  <a:srgbClr val="1A1440"/>
                </a:solidFill>
                <a:latin typeface="Arial"/>
              </a:rPr>
              <a:t>Rescheduled visits are not removed. 1,500 Nova bookings (Apr–Jun 2026) replace an earlier booking, so 3,541 test lines are counted twice. Effect: removing them gives +4.99%, not +5.81%.</a:t>
            </a:r>
          </a:p>
          <a:p>
            <a:pPr algn="l"/>
            <a:endParaRPr sz="1500" b="0"/>
          </a:p>
          <a:p>
            <a:pPr algn="l"/>
            <a:r>
              <a:rPr sz="1500" b="0">
                <a:solidFill>
                  <a:srgbClr val="1A1440"/>
                </a:solidFill>
                <a:latin typeface="Arial"/>
              </a:rPr>
              <a:t>Every other check is in the notebook: data_analysis.ipynb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B</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Appendix 2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B · Every city against its plan</a:t>
            </a:r>
          </a:p>
        </p:txBody>
      </p:sp>
      <p:graphicFrame>
        <p:nvGraphicFramePr>
          <p:cNvPr id="40" name="Table 40"/>
          <p:cNvGraphicFramePr>
            <a:graphicFrameLocks noGrp="1"/>
          </p:cNvGraphicFramePr>
          <p:nvPr/>
        </p:nvGraphicFramePr>
        <p:xfrm>
          <a:off x="457200" y="1645920"/>
          <a:ext cx="11201400" cy="3291840"/>
        </p:xfrm>
        <a:graphic>
          <a:graphicData uri="http://schemas.openxmlformats.org/drawingml/2006/table">
            <a:tbl>
              <a:tblPr firstRow="1" bandRow="1"/>
              <a:tblGrid>
                <a:gridCol w="1508760"/>
                <a:gridCol w="1234440"/>
                <a:gridCol w="1234440"/>
                <a:gridCol w="1005840"/>
                <a:gridCol w="1097280"/>
                <a:gridCol w="1188720"/>
                <a:gridCol w="1188720"/>
                <a:gridCol w="1371600"/>
                <a:gridCol w="1371600"/>
              </a:tblGrid>
              <a:tr h="411480">
                <a:tc>
                  <a:txBody>
                    <a:bodyPr/>
                    <a:lstStyle/>
                    <a:p>
                      <a:pPr algn="l"/>
                      <a:r>
                        <a:rPr lang="en-US" sz="1200" b="1" dirty="0">
                          <a:solidFill>
                            <a:srgbClr val="FFFFFF"/>
                          </a:solidFill>
                          <a:latin typeface="Arial"/>
                        </a:rPr>
                        <a:t>City</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Jan–Jun 2025</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Jan–Jun 2026</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Growth</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Plan</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Plan growth</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Below plan</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Share of gap</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 of plan</a:t>
                      </a:r>
                    </a:p>
                  </a:txBody>
                  <a:tcPr marL="73152" marR="73152" marT="36576" marB="36576" anchor="ctr">
                    <a:lnL w="0">
                      <a:noFill/>
                    </a:lnL>
                    <a:lnR w="0">
                      <a:noFill/>
                    </a:lnR>
                    <a:lnT w="0">
                      <a:noFill/>
                    </a:lnT>
                    <a:lnB w="6350">
                      <a:solidFill>
                        <a:srgbClr val="D9D2F4"/>
                      </a:solidFill>
                    </a:lnB>
                    <a:solidFill>
                      <a:srgbClr val="4E38AB"/>
                    </a:solidFill>
                  </a:tcPr>
                </a:tc>
              </a:tr>
              <a:tr h="411480">
                <a:tc>
                  <a:txBody>
                    <a:bodyPr/>
                    <a:lstStyle/>
                    <a:p>
                      <a:pPr algn="l"/>
                      <a:r>
                        <a:rPr lang="en-US" sz="1200" b="0" dirty="0">
                          <a:solidFill>
                            <a:srgbClr val="1A1440"/>
                          </a:solidFill>
                          <a:latin typeface="Arial"/>
                        </a:rPr>
                        <a:t>Bangalore</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100,070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107,661</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120,085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+20.0%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12,424</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23.0%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89.7%</a:t>
                      </a:r>
                    </a:p>
                  </a:txBody>
                  <a:tcPr marL="73152" marR="73152" marT="36576" marB="36576" anchor="ctr">
                    <a:lnL w="0">
                      <a:noFill/>
                    </a:lnL>
                    <a:lnR w="0">
                      <a:noFill/>
                    </a:lnR>
                    <a:lnT w="0">
                      <a:noFill/>
                    </a:lnT>
                    <a:lnB w="6350">
                      <a:solidFill>
                        <a:srgbClr val="D9D2F4"/>
                      </a:solidFill>
                    </a:lnB>
                    <a:noFill/>
                  </a:tcPr>
                </a:tc>
              </a:tr>
              <a:tr h="411480">
                <a:tc>
                  <a:txBody>
                    <a:bodyPr/>
                    <a:lstStyle/>
                    <a:p>
                      <a:pPr algn="l"/>
                      <a:r>
                        <a:rPr lang="en-US" sz="1200" b="0" dirty="0">
                          <a:solidFill>
                            <a:srgbClr val="1A1440"/>
                          </a:solidFill>
                          <a:latin typeface="Arial"/>
                        </a:rPr>
                        <a:t>Jaipur</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45,149</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41,490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−8.1%</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52,372</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+16.0%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10,882</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20.1%</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79.2%</a:t>
                      </a:r>
                    </a:p>
                  </a:txBody>
                  <a:tcPr marL="73152" marR="73152" marT="36576" marB="36576" anchor="ctr">
                    <a:lnL w="0">
                      <a:noFill/>
                    </a:lnL>
                    <a:lnR w="0">
                      <a:noFill/>
                    </a:lnR>
                    <a:lnT w="0">
                      <a:noFill/>
                    </a:lnT>
                    <a:lnB w="6350">
                      <a:solidFill>
                        <a:srgbClr val="D9D2F4"/>
                      </a:solidFill>
                    </a:lnB>
                    <a:solidFill>
                      <a:srgbClr val="F8F7FD"/>
                    </a:solidFill>
                  </a:tcPr>
                </a:tc>
              </a:tr>
              <a:tr h="411480">
                <a:tc>
                  <a:txBody>
                    <a:bodyPr/>
                    <a:lstStyle/>
                    <a:p>
                      <a:pPr algn="l"/>
                      <a:r>
                        <a:rPr lang="en-US" sz="1200" b="0" dirty="0">
                          <a:solidFill>
                            <a:srgbClr val="1A1440"/>
                          </a:solidFill>
                          <a:latin typeface="Arial"/>
                        </a:rPr>
                        <a:t>Chennai</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80,267</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83,146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+3.6%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93,912</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+17.0%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10,766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19.9%</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88.5%</a:t>
                      </a:r>
                    </a:p>
                  </a:txBody>
                  <a:tcPr marL="73152" marR="73152" marT="36576" marB="36576" anchor="ctr">
                    <a:lnL w="0">
                      <a:noFill/>
                    </a:lnL>
                    <a:lnR w="0">
                      <a:noFill/>
                    </a:lnR>
                    <a:lnT w="0">
                      <a:noFill/>
                    </a:lnT>
                    <a:lnB w="6350">
                      <a:solidFill>
                        <a:srgbClr val="D9D2F4"/>
                      </a:solidFill>
                    </a:lnB>
                    <a:noFill/>
                  </a:tcPr>
                </a:tc>
              </a:tr>
              <a:tr h="411480">
                <a:tc>
                  <a:txBody>
                    <a:bodyPr/>
                    <a:lstStyle/>
                    <a:p>
                      <a:pPr algn="l"/>
                      <a:r>
                        <a:rPr lang="en-US" sz="1200" b="0" dirty="0">
                          <a:solidFill>
                            <a:srgbClr val="1A1440"/>
                          </a:solidFill>
                          <a:latin typeface="Arial"/>
                        </a:rPr>
                        <a:t>Hyderabad</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73,237</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78,674</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+7.4%</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86,421</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+18.0%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7,747</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14.3%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91.0%</a:t>
                      </a:r>
                    </a:p>
                  </a:txBody>
                  <a:tcPr marL="73152" marR="73152" marT="36576" marB="36576" anchor="ctr">
                    <a:lnL w="0">
                      <a:noFill/>
                    </a:lnL>
                    <a:lnR w="0">
                      <a:noFill/>
                    </a:lnR>
                    <a:lnT w="0">
                      <a:noFill/>
                    </a:lnT>
                    <a:lnB w="6350">
                      <a:solidFill>
                        <a:srgbClr val="D9D2F4"/>
                      </a:solidFill>
                    </a:lnB>
                    <a:solidFill>
                      <a:srgbClr val="F8F7FD"/>
                    </a:solidFill>
                  </a:tcPr>
                </a:tc>
              </a:tr>
              <a:tr h="411480">
                <a:tc>
                  <a:txBody>
                    <a:bodyPr/>
                    <a:lstStyle/>
                    <a:p>
                      <a:pPr algn="l"/>
                      <a:r>
                        <a:rPr lang="en-US" sz="1200" b="0" dirty="0">
                          <a:solidFill>
                            <a:srgbClr val="1A1440"/>
                          </a:solidFill>
                          <a:latin typeface="Arial"/>
                        </a:rPr>
                        <a:t>Pune</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60,653</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65,575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+8.1%</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72,177</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+19.0%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6,602</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12.2%</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90.9%</a:t>
                      </a:r>
                    </a:p>
                  </a:txBody>
                  <a:tcPr marL="73152" marR="73152" marT="36576" marB="36576" anchor="ctr">
                    <a:lnL w="0">
                      <a:noFill/>
                    </a:lnL>
                    <a:lnR w="0">
                      <a:noFill/>
                    </a:lnR>
                    <a:lnT w="0">
                      <a:noFill/>
                    </a:lnT>
                    <a:lnB w="6350">
                      <a:solidFill>
                        <a:srgbClr val="D9D2F4"/>
                      </a:solidFill>
                    </a:lnB>
                    <a:noFill/>
                  </a:tcPr>
                </a:tc>
              </a:tr>
              <a:tr h="411480">
                <a:tc>
                  <a:txBody>
                    <a:bodyPr/>
                    <a:lstStyle/>
                    <a:p>
                      <a:pPr algn="l"/>
                      <a:r>
                        <a:rPr lang="en-US" sz="1200" b="0" dirty="0">
                          <a:solidFill>
                            <a:srgbClr val="1A1440"/>
                          </a:solidFill>
                          <a:latin typeface="Arial"/>
                        </a:rPr>
                        <a:t>Ahmedabad</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76,926</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85,084</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+10.6%</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90,773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+18.0%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5,689</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10.5%</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93.7%</a:t>
                      </a:r>
                    </a:p>
                  </a:txBody>
                  <a:tcPr marL="73152" marR="73152" marT="36576" marB="36576" anchor="ctr">
                    <a:lnL w="0">
                      <a:noFill/>
                    </a:lnL>
                    <a:lnR w="0">
                      <a:noFill/>
                    </a:lnR>
                    <a:lnT w="0">
                      <a:noFill/>
                    </a:lnT>
                    <a:lnB w="6350">
                      <a:solidFill>
                        <a:srgbClr val="D9D2F4"/>
                      </a:solidFill>
                    </a:lnB>
                    <a:solidFill>
                      <a:srgbClr val="F8F7FD"/>
                    </a:solidFill>
                  </a:tcPr>
                </a:tc>
              </a:tr>
              <a:tr h="411480">
                <a:tc>
                  <a:txBody>
                    <a:bodyPr/>
                    <a:lstStyle/>
                    <a:p>
                      <a:pPr algn="l"/>
                      <a:r>
                        <a:rPr lang="en-US" sz="1200" b="1" dirty="0">
                          <a:solidFill>
                            <a:srgbClr val="1A1440"/>
                          </a:solidFill>
                          <a:latin typeface="Arial"/>
                        </a:rPr>
                        <a:t>All six cities</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436,302</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461,630</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+5.81%</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515,740</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+18.21%</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54,110</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100%</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89.5%</a:t>
                      </a:r>
                    </a:p>
                  </a:txBody>
                  <a:tcPr marL="73152" marR="73152" marT="36576" marB="36576" anchor="ctr">
                    <a:lnL w="0">
                      <a:noFill/>
                    </a:lnL>
                    <a:lnR w="0">
                      <a:noFill/>
                    </a:lnR>
                    <a:lnT w="0">
                      <a:noFill/>
                    </a:lnT>
                    <a:lnB w="6350">
                      <a:solidFill>
                        <a:srgbClr val="D9D2F4"/>
                      </a:solidFill>
                    </a:lnB>
                    <a:solidFill>
                      <a:srgbClr val="EEEBFB"/>
                    </a:solidFill>
                  </a:tcPr>
                </a:tc>
              </a:tr>
            </a:tbl>
          </a:graphicData>
        </a:graphic>
      </p:graphicFrame>
      <p:sp>
        <p:nvSpPr>
          <p:cNvPr id="60" name="TextBox 7"/>
          <p:cNvSpPr txBox="1"/>
          <p:nvPr/>
        </p:nvSpPr>
        <p:spPr>
          <a:xfrm>
            <a:off x="457200" y="5120640"/>
            <a:ext cx="11247120" cy="1097280"/>
          </a:xfrm>
          <a:prstGeom prst="rect">
            <a:avLst/>
          </a:prstGeom>
          <a:noFill/>
        </p:spPr>
        <p:txBody>
          <a:bodyPr wrap="square">
            <a:spAutoFit/>
          </a:bodyPr>
          <a:lstStyle/>
          <a:p>
            <a:pPr algn="l" marL="342900" indent="-342900">
              <a:spcAft>
                <a:spcPts val="500"/>
              </a:spcAft>
              <a:buFont typeface="Arial"/>
              <a:buChar char="•"/>
            </a:pPr>
            <a:r>
              <a:rPr sz="1300" b="0">
                <a:solidFill>
                  <a:srgbClr val="1A1440"/>
                </a:solidFill>
                <a:latin typeface="Arial"/>
              </a:rPr>
              <a:t>Plan growth = plan ÷ Jan–Jun 2025 tests. The plan asked for 16% to 20% growth in each city. No city got close: the best, Ahmedabad, grew 10.6% against 18.0%.</a:t>
            </a:r>
          </a:p>
          <a:p>
            <a:pPr algn="l" marL="342900" indent="-342900">
              <a:spcAft>
                <a:spcPts val="500"/>
              </a:spcAft>
              <a:buFont typeface="Arial"/>
              <a:buChar char="•"/>
            </a:pPr>
            <a:r>
              <a:rPr sz="1300" b="0">
                <a:solidFill>
                  <a:srgbClr val="1A1440"/>
                </a:solidFill>
                <a:latin typeface="Arial"/>
              </a:rPr>
              <a:t>Jaipur is the only city that shrank (−8.1%) and is at 79.2% of plan. Bangalore, Jaipur and Chennai together are 34,072 tests (63%) of the 54,110 gap.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C</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Appendix 3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C · Clinic and Home in every city</a:t>
            </a:r>
          </a:p>
        </p:txBody>
      </p:sp>
      <p:graphicFrame>
        <p:nvGraphicFramePr>
          <p:cNvPr id="40" name="Table 40"/>
          <p:cNvGraphicFramePr>
            <a:graphicFrameLocks noGrp="1"/>
          </p:cNvGraphicFramePr>
          <p:nvPr/>
        </p:nvGraphicFramePr>
        <p:xfrm>
          <a:off x="457200" y="1645920"/>
          <a:ext cx="11247120" cy="3291840"/>
        </p:xfrm>
        <a:graphic>
          <a:graphicData uri="http://schemas.openxmlformats.org/drawingml/2006/table">
            <a:tbl>
              <a:tblPr firstRow="1" bandRow="1"/>
              <a:tblGrid>
                <a:gridCol w="1737360"/>
                <a:gridCol w="1325880"/>
                <a:gridCol w="1325880"/>
                <a:gridCol w="1371600"/>
                <a:gridCol w="1325880"/>
                <a:gridCol w="1325880"/>
                <a:gridCol w="1371600"/>
                <a:gridCol w="1463040"/>
              </a:tblGrid>
              <a:tr h="411480">
                <a:tc>
                  <a:txBody>
                    <a:bodyPr/>
                    <a:lstStyle/>
                    <a:p>
                      <a:pPr algn="l"/>
                      <a:r>
                        <a:rPr lang="en-US" sz="1200" b="1" dirty="0">
                          <a:solidFill>
                            <a:srgbClr val="FFFFFF"/>
                          </a:solidFill>
                          <a:latin typeface="Arial"/>
                        </a:rPr>
                        <a:t>City</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Clinic 2025</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Clinic 2026</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Clinic growth</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Home 2025</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Home 2026</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Home growth</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All tests growth</a:t>
                      </a:r>
                    </a:p>
                  </a:txBody>
                  <a:tcPr marL="73152" marR="73152" marT="36576" marB="36576" anchor="ctr">
                    <a:lnL w="0">
                      <a:noFill/>
                    </a:lnL>
                    <a:lnR w="0">
                      <a:noFill/>
                    </a:lnR>
                    <a:lnT w="0">
                      <a:noFill/>
                    </a:lnT>
                    <a:lnB w="6350">
                      <a:solidFill>
                        <a:srgbClr val="D9D2F4"/>
                      </a:solidFill>
                    </a:lnB>
                    <a:solidFill>
                      <a:srgbClr val="4E38AB"/>
                    </a:solidFill>
                  </a:tcPr>
                </a:tc>
              </a:tr>
              <a:tr h="411480">
                <a:tc>
                  <a:txBody>
                    <a:bodyPr/>
                    <a:lstStyle/>
                    <a:p>
                      <a:pPr algn="l"/>
                      <a:r>
                        <a:rPr lang="en-US" sz="1200" b="0" dirty="0">
                          <a:solidFill>
                            <a:srgbClr val="1A1440"/>
                          </a:solidFill>
                          <a:latin typeface="Arial"/>
                        </a:rPr>
                        <a:t>Bangalore</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66,025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59,356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B3261E"/>
                          </a:solidFill>
                          <a:latin typeface="Arial"/>
                        </a:rPr>
                        <a:t>−10.1%</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34,045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48,305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B7F4B"/>
                          </a:solidFill>
                          <a:latin typeface="Arial"/>
                        </a:rPr>
                        <a:t>+41.9%</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+7.59%</a:t>
                      </a:r>
                    </a:p>
                  </a:txBody>
                  <a:tcPr marL="73152" marR="73152" marT="36576" marB="36576" anchor="ctr">
                    <a:lnL w="0">
                      <a:noFill/>
                    </a:lnL>
                    <a:lnR w="0">
                      <a:noFill/>
                    </a:lnR>
                    <a:lnT w="0">
                      <a:noFill/>
                    </a:lnT>
                    <a:lnB w="6350">
                      <a:solidFill>
                        <a:srgbClr val="D9D2F4"/>
                      </a:solidFill>
                    </a:lnB>
                    <a:noFill/>
                  </a:tcPr>
                </a:tc>
              </a:tr>
              <a:tr h="411480">
                <a:tc>
                  <a:txBody>
                    <a:bodyPr/>
                    <a:lstStyle/>
                    <a:p>
                      <a:pPr algn="l"/>
                      <a:r>
                        <a:rPr lang="en-US" sz="1200" b="0" dirty="0">
                          <a:solidFill>
                            <a:srgbClr val="1A1440"/>
                          </a:solidFill>
                          <a:latin typeface="Arial"/>
                        </a:rPr>
                        <a:t>Jaipur</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29,685</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23,122</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−22.1%</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15,464</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18,368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B7F4B"/>
                          </a:solidFill>
                          <a:latin typeface="Arial"/>
                        </a:rPr>
                        <a:t>+18.8%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−8.10%</a:t>
                      </a:r>
                    </a:p>
                  </a:txBody>
                  <a:tcPr marL="73152" marR="73152" marT="36576" marB="36576" anchor="ctr">
                    <a:lnL w="0">
                      <a:noFill/>
                    </a:lnL>
                    <a:lnR w="0">
                      <a:noFill/>
                    </a:lnR>
                    <a:lnT w="0">
                      <a:noFill/>
                    </a:lnT>
                    <a:lnB w="6350">
                      <a:solidFill>
                        <a:srgbClr val="D9D2F4"/>
                      </a:solidFill>
                    </a:lnB>
                    <a:solidFill>
                      <a:srgbClr val="F8F7FD"/>
                    </a:solidFill>
                  </a:tcPr>
                </a:tc>
              </a:tr>
              <a:tr h="411480">
                <a:tc>
                  <a:txBody>
                    <a:bodyPr/>
                    <a:lstStyle/>
                    <a:p>
                      <a:pPr algn="l"/>
                      <a:r>
                        <a:rPr lang="en-US" sz="1200" b="0" dirty="0">
                          <a:solidFill>
                            <a:srgbClr val="1A1440"/>
                          </a:solidFill>
                          <a:latin typeface="Arial"/>
                        </a:rPr>
                        <a:t>Chennai</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53,032</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46,093</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B3261E"/>
                          </a:solidFill>
                          <a:latin typeface="Arial"/>
                        </a:rPr>
                        <a:t>−13.1%</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27,235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37,053</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B7F4B"/>
                          </a:solidFill>
                          <a:latin typeface="Arial"/>
                        </a:rPr>
                        <a:t>+36.0%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+3.59%</a:t>
                      </a:r>
                    </a:p>
                  </a:txBody>
                  <a:tcPr marL="73152" marR="73152" marT="36576" marB="36576" anchor="ctr">
                    <a:lnL w="0">
                      <a:noFill/>
                    </a:lnL>
                    <a:lnR w="0">
                      <a:noFill/>
                    </a:lnR>
                    <a:lnT w="0">
                      <a:noFill/>
                    </a:lnT>
                    <a:lnB w="6350">
                      <a:solidFill>
                        <a:srgbClr val="D9D2F4"/>
                      </a:solidFill>
                    </a:lnB>
                    <a:noFill/>
                  </a:tcPr>
                </a:tc>
              </a:tr>
              <a:tr h="411480">
                <a:tc>
                  <a:txBody>
                    <a:bodyPr/>
                    <a:lstStyle/>
                    <a:p>
                      <a:pPr algn="l"/>
                      <a:r>
                        <a:rPr lang="en-US" sz="1200" b="0" dirty="0">
                          <a:solidFill>
                            <a:srgbClr val="1A1440"/>
                          </a:solidFill>
                          <a:latin typeface="Arial"/>
                        </a:rPr>
                        <a:t>Hyderabad</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48,187</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43,386</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−10.0%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25,050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35,288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B7F4B"/>
                          </a:solidFill>
                          <a:latin typeface="Arial"/>
                        </a:rPr>
                        <a:t>+40.9%</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+7.42%</a:t>
                      </a:r>
                    </a:p>
                  </a:txBody>
                  <a:tcPr marL="73152" marR="73152" marT="36576" marB="36576" anchor="ctr">
                    <a:lnL w="0">
                      <a:noFill/>
                    </a:lnL>
                    <a:lnR w="0">
                      <a:noFill/>
                    </a:lnR>
                    <a:lnT w="0">
                      <a:noFill/>
                    </a:lnT>
                    <a:lnB w="6350">
                      <a:solidFill>
                        <a:srgbClr val="D9D2F4"/>
                      </a:solidFill>
                    </a:lnB>
                    <a:solidFill>
                      <a:srgbClr val="F8F7FD"/>
                    </a:solidFill>
                  </a:tcPr>
                </a:tc>
              </a:tr>
              <a:tr h="411480">
                <a:tc>
                  <a:txBody>
                    <a:bodyPr/>
                    <a:lstStyle/>
                    <a:p>
                      <a:pPr algn="l"/>
                      <a:r>
                        <a:rPr lang="en-US" sz="1200" b="0" dirty="0">
                          <a:solidFill>
                            <a:srgbClr val="1A1440"/>
                          </a:solidFill>
                          <a:latin typeface="Arial"/>
                        </a:rPr>
                        <a:t>Pune</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39,900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35,964</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B3261E"/>
                          </a:solidFill>
                          <a:latin typeface="Arial"/>
                        </a:rPr>
                        <a:t>−9.9%</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20,753</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29,611</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B7F4B"/>
                          </a:solidFill>
                          <a:latin typeface="Arial"/>
                        </a:rPr>
                        <a:t>+42.7%</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+8.12%</a:t>
                      </a:r>
                    </a:p>
                  </a:txBody>
                  <a:tcPr marL="73152" marR="73152" marT="36576" marB="36576" anchor="ctr">
                    <a:lnL w="0">
                      <a:noFill/>
                    </a:lnL>
                    <a:lnR w="0">
                      <a:noFill/>
                    </a:lnR>
                    <a:lnT w="0">
                      <a:noFill/>
                    </a:lnT>
                    <a:lnB w="6350">
                      <a:solidFill>
                        <a:srgbClr val="D9D2F4"/>
                      </a:solidFill>
                    </a:lnB>
                    <a:noFill/>
                  </a:tcPr>
                </a:tc>
              </a:tr>
              <a:tr h="411480">
                <a:tc>
                  <a:txBody>
                    <a:bodyPr/>
                    <a:lstStyle/>
                    <a:p>
                      <a:pPr algn="l"/>
                      <a:r>
                        <a:rPr lang="en-US" sz="1200" b="0" dirty="0">
                          <a:solidFill>
                            <a:srgbClr val="1A1440"/>
                          </a:solidFill>
                          <a:latin typeface="Arial"/>
                        </a:rPr>
                        <a:t>Ahmedabad</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50,357</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47,380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−5.9%</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26,569</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37,704</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B7F4B"/>
                          </a:solidFill>
                          <a:latin typeface="Arial"/>
                        </a:rPr>
                        <a:t>+41.9%</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+10.60%</a:t>
                      </a:r>
                    </a:p>
                  </a:txBody>
                  <a:tcPr marL="73152" marR="73152" marT="36576" marB="36576" anchor="ctr">
                    <a:lnL w="0">
                      <a:noFill/>
                    </a:lnL>
                    <a:lnR w="0">
                      <a:noFill/>
                    </a:lnR>
                    <a:lnT w="0">
                      <a:noFill/>
                    </a:lnT>
                    <a:lnB w="6350">
                      <a:solidFill>
                        <a:srgbClr val="D9D2F4"/>
                      </a:solidFill>
                    </a:lnB>
                    <a:solidFill>
                      <a:srgbClr val="F8F7FD"/>
                    </a:solidFill>
                  </a:tcPr>
                </a:tc>
              </a:tr>
              <a:tr h="411480">
                <a:tc>
                  <a:txBody>
                    <a:bodyPr/>
                    <a:lstStyle/>
                    <a:p>
                      <a:pPr algn="l"/>
                      <a:r>
                        <a:rPr lang="en-US" sz="1200" b="1" dirty="0">
                          <a:solidFill>
                            <a:srgbClr val="1A1440"/>
                          </a:solidFill>
                          <a:latin typeface="Arial"/>
                        </a:rPr>
                        <a:t>All six cities</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287,186</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255,301</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B3261E"/>
                          </a:solidFill>
                          <a:latin typeface="Arial"/>
                        </a:rPr>
                        <a:t>−11.1%</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149,116</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206,329</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B7F4B"/>
                          </a:solidFill>
                          <a:latin typeface="Arial"/>
                        </a:rPr>
                        <a:t>+38.4%</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+5.81%</a:t>
                      </a:r>
                    </a:p>
                  </a:txBody>
                  <a:tcPr marL="73152" marR="73152" marT="36576" marB="36576" anchor="ctr">
                    <a:lnL w="0">
                      <a:noFill/>
                    </a:lnL>
                    <a:lnR w="0">
                      <a:noFill/>
                    </a:lnR>
                    <a:lnT w="0">
                      <a:noFill/>
                    </a:lnT>
                    <a:lnB w="6350">
                      <a:solidFill>
                        <a:srgbClr val="D9D2F4"/>
                      </a:solidFill>
                    </a:lnB>
                    <a:solidFill>
                      <a:srgbClr val="EEEBFB"/>
                    </a:solidFill>
                  </a:tcPr>
                </a:tc>
              </a:tr>
            </a:tbl>
          </a:graphicData>
        </a:graphic>
      </p:graphicFrame>
      <p:sp>
        <p:nvSpPr>
          <p:cNvPr id="60" name="TextBox 7"/>
          <p:cNvSpPr txBox="1"/>
          <p:nvPr/>
        </p:nvSpPr>
        <p:spPr>
          <a:xfrm>
            <a:off x="457200" y="4983480"/>
            <a:ext cx="11247120" cy="1097280"/>
          </a:xfrm>
          <a:prstGeom prst="rect">
            <a:avLst/>
          </a:prstGeom>
          <a:noFill/>
        </p:spPr>
        <p:txBody>
          <a:bodyPr wrap="square">
            <a:spAutoFit/>
          </a:bodyPr>
          <a:lstStyle/>
          <a:p>
            <a:pPr algn="l" marL="342900" indent="-342900">
              <a:spcAft>
                <a:spcPts val="500"/>
              </a:spcAft>
              <a:buFont typeface="Arial"/>
              <a:buChar char="•"/>
            </a:pPr>
            <a:r>
              <a:rPr sz="1300" b="0">
                <a:solidFill>
                  <a:srgbClr val="1A1440"/>
                </a:solidFill>
                <a:latin typeface="Arial"/>
              </a:rPr>
              <a:t>Clinic is below last year in all six cities (−5.9% to −22.1%). Home is above last year in all six (+18.8% to +42.7%).</a:t>
            </a:r>
          </a:p>
          <a:p>
            <a:pPr algn="l" marL="342900" indent="-342900">
              <a:spcAft>
                <a:spcPts val="500"/>
              </a:spcAft>
              <a:buFont typeface="Arial"/>
              <a:buChar char="•"/>
            </a:pPr>
            <a:r>
              <a:rPr sz="1300" b="0">
                <a:solidFill>
                  <a:srgbClr val="1A1440"/>
                </a:solidFill>
                <a:latin typeface="Arial"/>
              </a:rPr>
              <a:t>Jaipur is weakest on both: Clinic −22.1% and Home only +18.8%. Net change: Home +57,213 and Clinic −31,885 tests = +25,328 tests.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D</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Appendix 4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D · Month by month</a:t>
            </a:r>
          </a:p>
        </p:txBody>
      </p:sp>
      <p:graphicFrame>
        <p:nvGraphicFramePr>
          <p:cNvPr id="40" name="Table 40"/>
          <p:cNvGraphicFramePr>
            <a:graphicFrameLocks noGrp="1"/>
          </p:cNvGraphicFramePr>
          <p:nvPr/>
        </p:nvGraphicFramePr>
        <p:xfrm>
          <a:off x="457200" y="1645920"/>
          <a:ext cx="6675120" cy="3072384"/>
        </p:xfrm>
        <a:graphic>
          <a:graphicData uri="http://schemas.openxmlformats.org/drawingml/2006/table">
            <a:tbl>
              <a:tblPr firstRow="1" bandRow="1"/>
              <a:tblGrid>
                <a:gridCol w="1188720"/>
                <a:gridCol w="914400"/>
                <a:gridCol w="914400"/>
                <a:gridCol w="868680"/>
                <a:gridCol w="914400"/>
                <a:gridCol w="914400"/>
                <a:gridCol w="960120"/>
              </a:tblGrid>
              <a:tr h="384048">
                <a:tc>
                  <a:txBody>
                    <a:bodyPr/>
                    <a:lstStyle/>
                    <a:p>
                      <a:pPr algn="l"/>
                      <a:r>
                        <a:rPr lang="en-US" sz="1200" b="1" dirty="0">
                          <a:solidFill>
                            <a:srgbClr val="FFFFFF"/>
                          </a:solidFill>
                          <a:latin typeface="Arial"/>
                        </a:rPr>
                        <a:t>Month</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2025</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2026</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Growth</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Plan</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 of plan</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Below plan</a:t>
                      </a:r>
                    </a:p>
                  </a:txBody>
                  <a:tcPr marL="73152" marR="73152" marT="36576" marB="36576" anchor="ctr">
                    <a:lnL w="0">
                      <a:noFill/>
                    </a:lnL>
                    <a:lnR w="0">
                      <a:noFill/>
                    </a:lnR>
                    <a:lnT w="0">
                      <a:noFill/>
                    </a:lnT>
                    <a:lnB w="6350">
                      <a:solidFill>
                        <a:srgbClr val="D9D2F4"/>
                      </a:solidFill>
                    </a:lnB>
                    <a:solidFill>
                      <a:srgbClr val="4E38AB"/>
                    </a:solidFill>
                  </a:tcPr>
                </a:tc>
              </a:tr>
              <a:tr h="384048">
                <a:tc>
                  <a:txBody>
                    <a:bodyPr/>
                    <a:lstStyle/>
                    <a:p>
                      <a:pPr algn="l"/>
                      <a:r>
                        <a:rPr lang="en-US" sz="1200" b="0" dirty="0">
                          <a:solidFill>
                            <a:srgbClr val="1A1440"/>
                          </a:solidFill>
                          <a:latin typeface="Arial"/>
                        </a:rPr>
                        <a:t>January</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73,596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77,321</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+5.06%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87,002</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88.9%</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9,681</a:t>
                      </a:r>
                    </a:p>
                  </a:txBody>
                  <a:tcPr marL="73152" marR="73152" marT="36576" marB="36576" anchor="ctr">
                    <a:lnL w="0">
                      <a:noFill/>
                    </a:lnL>
                    <a:lnR w="0">
                      <a:noFill/>
                    </a:lnR>
                    <a:lnT w="0">
                      <a:noFill/>
                    </a:lnT>
                    <a:lnB w="6350">
                      <a:solidFill>
                        <a:srgbClr val="D9D2F4"/>
                      </a:solidFill>
                    </a:lnB>
                    <a:noFill/>
                  </a:tcPr>
                </a:tc>
              </a:tr>
              <a:tr h="384048">
                <a:tc>
                  <a:txBody>
                    <a:bodyPr/>
                    <a:lstStyle/>
                    <a:p>
                      <a:pPr algn="l"/>
                      <a:r>
                        <a:rPr lang="en-US" sz="1200" b="0" dirty="0">
                          <a:solidFill>
                            <a:srgbClr val="1A1440"/>
                          </a:solidFill>
                          <a:latin typeface="Arial"/>
                        </a:rPr>
                        <a:t>February</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73,007</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80,123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+9.75%</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86,293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92.8%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6,170</a:t>
                      </a:r>
                    </a:p>
                  </a:txBody>
                  <a:tcPr marL="73152" marR="73152" marT="36576" marB="36576" anchor="ctr">
                    <a:lnL w="0">
                      <a:noFill/>
                    </a:lnL>
                    <a:lnR w="0">
                      <a:noFill/>
                    </a:lnR>
                    <a:lnT w="0">
                      <a:noFill/>
                    </a:lnT>
                    <a:lnB w="6350">
                      <a:solidFill>
                        <a:srgbClr val="D9D2F4"/>
                      </a:solidFill>
                    </a:lnB>
                    <a:solidFill>
                      <a:srgbClr val="F8F7FD"/>
                    </a:solidFill>
                  </a:tcPr>
                </a:tc>
              </a:tr>
              <a:tr h="384048">
                <a:tc>
                  <a:txBody>
                    <a:bodyPr/>
                    <a:lstStyle/>
                    <a:p>
                      <a:pPr algn="l"/>
                      <a:r>
                        <a:rPr lang="en-US" sz="1200" b="0" dirty="0">
                          <a:solidFill>
                            <a:srgbClr val="1A1440"/>
                          </a:solidFill>
                          <a:latin typeface="Arial"/>
                        </a:rPr>
                        <a:t>March</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74,356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76,770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B3261E"/>
                          </a:solidFill>
                          <a:latin typeface="Arial"/>
                        </a:rPr>
                        <a:t>+3.25%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87,882</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87.4%</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11,112</a:t>
                      </a:r>
                    </a:p>
                  </a:txBody>
                  <a:tcPr marL="73152" marR="73152" marT="36576" marB="36576" anchor="ctr">
                    <a:lnL w="0">
                      <a:noFill/>
                    </a:lnL>
                    <a:lnR w="0">
                      <a:noFill/>
                    </a:lnR>
                    <a:lnT w="0">
                      <a:noFill/>
                    </a:lnT>
                    <a:lnB w="6350">
                      <a:solidFill>
                        <a:srgbClr val="D9D2F4"/>
                      </a:solidFill>
                    </a:lnB>
                    <a:noFill/>
                  </a:tcPr>
                </a:tc>
              </a:tr>
              <a:tr h="384048">
                <a:tc>
                  <a:txBody>
                    <a:bodyPr/>
                    <a:lstStyle/>
                    <a:p>
                      <a:pPr algn="l"/>
                      <a:r>
                        <a:rPr lang="en-US" sz="1200" b="0" dirty="0">
                          <a:solidFill>
                            <a:srgbClr val="1A1440"/>
                          </a:solidFill>
                          <a:latin typeface="Arial"/>
                        </a:rPr>
                        <a:t>April</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72,428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76,558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+5.70%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85,616</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89.4%</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9,058</a:t>
                      </a:r>
                    </a:p>
                  </a:txBody>
                  <a:tcPr marL="73152" marR="73152" marT="36576" marB="36576" anchor="ctr">
                    <a:lnL w="0">
                      <a:noFill/>
                    </a:lnL>
                    <a:lnR w="0">
                      <a:noFill/>
                    </a:lnR>
                    <a:lnT w="0">
                      <a:noFill/>
                    </a:lnT>
                    <a:lnB w="6350">
                      <a:solidFill>
                        <a:srgbClr val="D9D2F4"/>
                      </a:solidFill>
                    </a:lnB>
                    <a:solidFill>
                      <a:srgbClr val="F8F7FD"/>
                    </a:solidFill>
                  </a:tcPr>
                </a:tc>
              </a:tr>
              <a:tr h="384048">
                <a:tc>
                  <a:txBody>
                    <a:bodyPr/>
                    <a:lstStyle/>
                    <a:p>
                      <a:pPr algn="l"/>
                      <a:r>
                        <a:rPr lang="en-US" sz="1200" b="0" dirty="0">
                          <a:solidFill>
                            <a:srgbClr val="1A1440"/>
                          </a:solidFill>
                          <a:latin typeface="Arial"/>
                        </a:rPr>
                        <a:t>May</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71,632</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74,883</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+4.54%</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84,678</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88.4%</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9,795</a:t>
                      </a:r>
                    </a:p>
                  </a:txBody>
                  <a:tcPr marL="73152" marR="73152" marT="36576" marB="36576" anchor="ctr">
                    <a:lnL w="0">
                      <a:noFill/>
                    </a:lnL>
                    <a:lnR w="0">
                      <a:noFill/>
                    </a:lnR>
                    <a:lnT w="0">
                      <a:noFill/>
                    </a:lnT>
                    <a:lnB w="6350">
                      <a:solidFill>
                        <a:srgbClr val="D9D2F4"/>
                      </a:solidFill>
                    </a:lnB>
                    <a:noFill/>
                  </a:tcPr>
                </a:tc>
              </a:tr>
              <a:tr h="384048">
                <a:tc>
                  <a:txBody>
                    <a:bodyPr/>
                    <a:lstStyle/>
                    <a:p>
                      <a:pPr algn="l"/>
                      <a:r>
                        <a:rPr lang="en-US" sz="1200" b="0" dirty="0">
                          <a:solidFill>
                            <a:srgbClr val="1A1440"/>
                          </a:solidFill>
                          <a:latin typeface="Arial"/>
                        </a:rPr>
                        <a:t>June</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71,283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75,975</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+6.58%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84,269</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90.2%</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8,294</a:t>
                      </a:r>
                    </a:p>
                  </a:txBody>
                  <a:tcPr marL="73152" marR="73152" marT="36576" marB="36576" anchor="ctr">
                    <a:lnL w="0">
                      <a:noFill/>
                    </a:lnL>
                    <a:lnR w="0">
                      <a:noFill/>
                    </a:lnR>
                    <a:lnT w="0">
                      <a:noFill/>
                    </a:lnT>
                    <a:lnB w="6350">
                      <a:solidFill>
                        <a:srgbClr val="D9D2F4"/>
                      </a:solidFill>
                    </a:lnB>
                    <a:solidFill>
                      <a:srgbClr val="F8F7FD"/>
                    </a:solidFill>
                  </a:tcPr>
                </a:tc>
              </a:tr>
              <a:tr h="384048">
                <a:tc>
                  <a:txBody>
                    <a:bodyPr/>
                    <a:lstStyle/>
                    <a:p>
                      <a:pPr algn="l"/>
                      <a:r>
                        <a:rPr lang="en-US" sz="1200" b="1" dirty="0">
                          <a:solidFill>
                            <a:srgbClr val="1A1440"/>
                          </a:solidFill>
                          <a:latin typeface="Arial"/>
                        </a:rPr>
                        <a:t>Jan–Jun</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436,302</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461,630</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+5.81%</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515,740</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89.5%</a:t>
                      </a:r>
                    </a:p>
                  </a:txBody>
                  <a:tcPr marL="73152" marR="73152" marT="36576" marB="36576" anchor="ctr">
                    <a:lnL w="0">
                      <a:noFill/>
                    </a:lnL>
                    <a:lnR w="0">
                      <a:noFill/>
                    </a:lnR>
                    <a:lnT w="0">
                      <a:noFill/>
                    </a:lnT>
                    <a:lnB w="6350">
                      <a:solidFill>
                        <a:srgbClr val="D9D2F4"/>
                      </a:solidFill>
                    </a:lnB>
                    <a:solidFill>
                      <a:srgbClr val="EEEBFB"/>
                    </a:solidFill>
                  </a:tcPr>
                </a:tc>
                <a:tc>
                  <a:txBody>
                    <a:bodyPr/>
                    <a:lstStyle/>
                    <a:p>
                      <a:pPr algn="r"/>
                      <a:r>
                        <a:rPr lang="en-US" sz="1200" b="1" dirty="0">
                          <a:solidFill>
                            <a:srgbClr val="1A1440"/>
                          </a:solidFill>
                          <a:latin typeface="Arial"/>
                        </a:rPr>
                        <a:t>54,110</a:t>
                      </a:r>
                    </a:p>
                  </a:txBody>
                  <a:tcPr marL="73152" marR="73152" marT="36576" marB="36576" anchor="ctr">
                    <a:lnL w="0">
                      <a:noFill/>
                    </a:lnL>
                    <a:lnR w="0">
                      <a:noFill/>
                    </a:lnR>
                    <a:lnT w="0">
                      <a:noFill/>
                    </a:lnT>
                    <a:lnB w="6350">
                      <a:solidFill>
                        <a:srgbClr val="D9D2F4"/>
                      </a:solidFill>
                    </a:lnB>
                    <a:solidFill>
                      <a:srgbClr val="EEEBFB"/>
                    </a:solidFill>
                  </a:tcPr>
                </a:tc>
              </a:tr>
            </a:tbl>
          </a:graphicData>
        </a:graphic>
      </p:graphicFrame>
      <p:sp>
        <p:nvSpPr>
          <p:cNvPr id="60" name="TextBox 7"/>
          <p:cNvSpPr txBox="1"/>
          <p:nvPr/>
        </p:nvSpPr>
        <p:spPr>
          <a:xfrm>
            <a:off x="457200" y="4846320"/>
            <a:ext cx="6675120" cy="1371600"/>
          </a:xfrm>
          <a:prstGeom prst="rect">
            <a:avLst/>
          </a:prstGeom>
          <a:noFill/>
        </p:spPr>
        <p:txBody>
          <a:bodyPr wrap="square">
            <a:spAutoFit/>
          </a:bodyPr>
          <a:lstStyle/>
          <a:p>
            <a:pPr algn="l" marL="342900" indent="-342900">
              <a:spcAft>
                <a:spcPts val="500"/>
              </a:spcAft>
              <a:buFont typeface="Arial"/>
              <a:buChar char="•"/>
            </a:pPr>
            <a:r>
              <a:rPr sz="1200" b="0">
                <a:solidFill>
                  <a:srgbClr val="1A1440"/>
                </a:solidFill>
                <a:latin typeface="Arial"/>
              </a:rPr>
              <a:t>No month reached plan: every month was 87% to 93% of plan. The gap is steady, not one bad month.</a:t>
            </a:r>
          </a:p>
          <a:p>
            <a:pPr algn="l" marL="342900" indent="-342900">
              <a:spcAft>
                <a:spcPts val="500"/>
              </a:spcAft>
              <a:buFont typeface="Arial"/>
              <a:buChar char="•"/>
            </a:pPr>
            <a:r>
              <a:rPr sz="1200" b="0">
                <a:solidFill>
                  <a:srgbClr val="1A1440"/>
                </a:solidFill>
                <a:latin typeface="Arial"/>
              </a:rPr>
              <a:t>March grew slowest (+3.25%). The biggest drop that month was Bangalore Clinic: −2,671 tests (−22.9%).</a:t>
            </a:r>
          </a:p>
          <a:p>
            <a:pPr algn="l" marL="342900" indent="-342900">
              <a:spcAft>
                <a:spcPts val="500"/>
              </a:spcAft>
              <a:buFont typeface="Arial"/>
              <a:buChar char="•"/>
            </a:pPr>
            <a:r>
              <a:rPr sz="1200" b="0">
                <a:solidFill>
                  <a:srgbClr val="1A1440"/>
                </a:solidFill>
                <a:latin typeface="Arial"/>
              </a:rPr>
              <a:t>February grew fastest (+9.75%).</a:t>
            </a:r>
          </a:p>
        </p:txBody>
      </p:sp>
      <p:sp>
        <p:nvSpPr>
          <p:cNvPr id="30" name="Rounded Rectangle 8"/>
          <p:cNvSpPr/>
          <p:nvPr/>
        </p:nvSpPr>
        <p:spPr>
          <a:xfrm>
            <a:off x="7315200" y="1645920"/>
            <a:ext cx="4389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Monthly chart" descr="Monthly tests 2025 and 2026 against plan"/>
          <p:cNvPicPr>
            <a:picLocks noChangeAspect="1"/>
          </p:cNvPicPr>
          <p:nvPr/>
        </p:nvPicPr>
        <p:blipFill>
          <a:blip r:embed="rId4"/>
          <a:stretch>
            <a:fillRect/>
          </a:stretch>
        </p:blipFill>
        <p:spPr>
          <a:xfrm>
            <a:off x="7360920" y="1737360"/>
            <a:ext cx="4297680" cy="4023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Appendix 5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E · The free home collection window</a:t>
            </a:r>
          </a:p>
        </p:txBody>
      </p:sp>
      <p:graphicFrame>
        <p:nvGraphicFramePr>
          <p:cNvPr id="40" name="Table 40"/>
          <p:cNvGraphicFramePr>
            <a:graphicFrameLocks noGrp="1"/>
          </p:cNvGraphicFramePr>
          <p:nvPr/>
        </p:nvGraphicFramePr>
        <p:xfrm>
          <a:off x="457200" y="1645920"/>
          <a:ext cx="6080760" cy="2560320"/>
        </p:xfrm>
        <a:graphic>
          <a:graphicData uri="http://schemas.openxmlformats.org/drawingml/2006/table">
            <a:tbl>
              <a:tblPr firstRow="1" bandRow="1"/>
              <a:tblGrid>
                <a:gridCol w="1143000"/>
                <a:gridCol w="1005840"/>
                <a:gridCol w="1005840"/>
                <a:gridCol w="1005840"/>
                <a:gridCol w="1005840"/>
                <a:gridCol w="914400"/>
              </a:tblGrid>
              <a:tr h="365760">
                <a:tc>
                  <a:txBody>
                    <a:bodyPr/>
                    <a:lstStyle/>
                    <a:p>
                      <a:pPr algn="l"/>
                      <a:r>
                        <a:rPr lang="en-US" sz="1200" b="1" dirty="0">
                          <a:solidFill>
                            <a:srgbClr val="FFFFFF"/>
                          </a:solidFill>
                          <a:latin typeface="Arial"/>
                        </a:rPr>
                        <a:t>Channel</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Period</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2025</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2026</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Change</a:t>
                      </a:r>
                    </a:p>
                  </a:txBody>
                  <a:tcPr marL="73152" marR="73152" marT="36576" marB="36576" anchor="ctr">
                    <a:lnL w="0">
                      <a:noFill/>
                    </a:lnL>
                    <a:lnR w="0">
                      <a:noFill/>
                    </a:lnR>
                    <a:lnT w="0">
                      <a:noFill/>
                    </a:lnT>
                    <a:lnB w="6350">
                      <a:solidFill>
                        <a:srgbClr val="D9D2F4"/>
                      </a:solidFill>
                    </a:lnB>
                    <a:solidFill>
                      <a:srgbClr val="4E38AB"/>
                    </a:solidFill>
                  </a:tcPr>
                </a:tc>
                <a:tc>
                  <a:txBody>
                    <a:bodyPr/>
                    <a:lstStyle/>
                    <a:p>
                      <a:pPr algn="r"/>
                      <a:r>
                        <a:rPr lang="en-US" sz="1200" b="1" dirty="0">
                          <a:solidFill>
                            <a:srgbClr val="FFFFFF"/>
                          </a:solidFill>
                          <a:latin typeface="Arial"/>
                        </a:rPr>
                        <a:t>Growth</a:t>
                      </a:r>
                    </a:p>
                  </a:txBody>
                  <a:tcPr marL="73152" marR="73152" marT="36576" marB="36576" anchor="ctr">
                    <a:lnL w="0">
                      <a:noFill/>
                    </a:lnL>
                    <a:lnR w="0">
                      <a:noFill/>
                    </a:lnR>
                    <a:lnT w="0">
                      <a:noFill/>
                    </a:lnT>
                    <a:lnB w="6350">
                      <a:solidFill>
                        <a:srgbClr val="D9D2F4"/>
                      </a:solidFill>
                    </a:lnB>
                    <a:solidFill>
                      <a:srgbClr val="4E38AB"/>
                    </a:solidFill>
                  </a:tcPr>
                </a:tc>
              </a:tr>
              <a:tr h="365760">
                <a:tc>
                  <a:txBody>
                    <a:bodyPr/>
                    <a:lstStyle/>
                    <a:p>
                      <a:pPr algn="l"/>
                      <a:r>
                        <a:rPr lang="en-US" sz="1200" b="0" dirty="0">
                          <a:solidFill>
                            <a:srgbClr val="1A1440"/>
                          </a:solidFill>
                          <a:latin typeface="Arial"/>
                        </a:rPr>
                        <a:t>Clinic</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Jan–Mar</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145,486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119,186</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B3261E"/>
                          </a:solidFill>
                          <a:latin typeface="Arial"/>
                        </a:rPr>
                        <a:t>−26,300</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B3261E"/>
                          </a:solidFill>
                          <a:latin typeface="Arial"/>
                        </a:rPr>
                        <a:t>−18.1%</a:t>
                      </a:r>
                    </a:p>
                  </a:txBody>
                  <a:tcPr marL="73152" marR="73152" marT="36576" marB="36576" anchor="ctr">
                    <a:lnL w="0">
                      <a:noFill/>
                    </a:lnL>
                    <a:lnR w="0">
                      <a:noFill/>
                    </a:lnR>
                    <a:lnT w="0">
                      <a:noFill/>
                    </a:lnT>
                    <a:lnB w="6350">
                      <a:solidFill>
                        <a:srgbClr val="D9D2F4"/>
                      </a:solidFill>
                    </a:lnB>
                    <a:noFill/>
                  </a:tcPr>
                </a:tc>
              </a:tr>
              <a:tr h="365760">
                <a:tc>
                  <a:txBody>
                    <a:bodyPr/>
                    <a:lstStyle/>
                    <a:p>
                      <a:pPr algn="l"/>
                      <a:r>
                        <a:rPr lang="en-US" sz="1200" b="0" dirty="0">
                          <a:solidFill>
                            <a:srgbClr val="1A1440"/>
                          </a:solidFill>
                          <a:latin typeface="Arial"/>
                        </a:rPr>
                        <a:t>Clinic</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Apr–Jun</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141,700</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136,115</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−5,585</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B3261E"/>
                          </a:solidFill>
                          <a:latin typeface="Arial"/>
                        </a:rPr>
                        <a:t>−3.9%</a:t>
                      </a:r>
                    </a:p>
                  </a:txBody>
                  <a:tcPr marL="73152" marR="73152" marT="36576" marB="36576" anchor="ctr">
                    <a:lnL w="0">
                      <a:noFill/>
                    </a:lnL>
                    <a:lnR w="0">
                      <a:noFill/>
                    </a:lnR>
                    <a:lnT w="0">
                      <a:noFill/>
                    </a:lnT>
                    <a:lnB w="6350">
                      <a:solidFill>
                        <a:srgbClr val="D9D2F4"/>
                      </a:solidFill>
                    </a:lnB>
                    <a:solidFill>
                      <a:srgbClr val="F8F7FD"/>
                    </a:solidFill>
                  </a:tcPr>
                </a:tc>
              </a:tr>
              <a:tr h="365760">
                <a:tc>
                  <a:txBody>
                    <a:bodyPr/>
                    <a:lstStyle/>
                    <a:p>
                      <a:pPr algn="l"/>
                      <a:r>
                        <a:rPr lang="en-US" sz="1200" b="0" dirty="0">
                          <a:solidFill>
                            <a:srgbClr val="1A1440"/>
                          </a:solidFill>
                          <a:latin typeface="Arial"/>
                        </a:rPr>
                        <a:t>Home</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Jan–Mar</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75,473</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115,028</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B7F4B"/>
                          </a:solidFill>
                          <a:latin typeface="Arial"/>
                        </a:rPr>
                        <a:t>+39,555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B7F4B"/>
                          </a:solidFill>
                          <a:latin typeface="Arial"/>
                        </a:rPr>
                        <a:t>+52.4%</a:t>
                      </a:r>
                    </a:p>
                  </a:txBody>
                  <a:tcPr marL="73152" marR="73152" marT="36576" marB="36576" anchor="ctr">
                    <a:lnL w="0">
                      <a:noFill/>
                    </a:lnL>
                    <a:lnR w="0">
                      <a:noFill/>
                    </a:lnR>
                    <a:lnT w="0">
                      <a:noFill/>
                    </a:lnT>
                    <a:lnB w="6350">
                      <a:solidFill>
                        <a:srgbClr val="D9D2F4"/>
                      </a:solidFill>
                    </a:lnB>
                    <a:noFill/>
                  </a:tcPr>
                </a:tc>
              </a:tr>
              <a:tr h="365760">
                <a:tc>
                  <a:txBody>
                    <a:bodyPr/>
                    <a:lstStyle/>
                    <a:p>
                      <a:pPr algn="l"/>
                      <a:r>
                        <a:rPr lang="en-US" sz="1200" b="0" dirty="0">
                          <a:solidFill>
                            <a:srgbClr val="1A1440"/>
                          </a:solidFill>
                          <a:latin typeface="Arial"/>
                        </a:rPr>
                        <a:t>Home</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Apr–Jun</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73,643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91,301</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B7F4B"/>
                          </a:solidFill>
                          <a:latin typeface="Arial"/>
                        </a:rPr>
                        <a:t>+17,658</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B7F4B"/>
                          </a:solidFill>
                          <a:latin typeface="Arial"/>
                        </a:rPr>
                        <a:t>+24.0%</a:t>
                      </a:r>
                    </a:p>
                  </a:txBody>
                  <a:tcPr marL="73152" marR="73152" marT="36576" marB="36576" anchor="ctr">
                    <a:lnL w="0">
                      <a:noFill/>
                    </a:lnL>
                    <a:lnR w="0">
                      <a:noFill/>
                    </a:lnR>
                    <a:lnT w="0">
                      <a:noFill/>
                    </a:lnT>
                    <a:lnB w="6350">
                      <a:solidFill>
                        <a:srgbClr val="D9D2F4"/>
                      </a:solidFill>
                    </a:lnB>
                    <a:solidFill>
                      <a:srgbClr val="F8F7FD"/>
                    </a:solidFill>
                  </a:tcPr>
                </a:tc>
              </a:tr>
              <a:tr h="365760">
                <a:tc>
                  <a:txBody>
                    <a:bodyPr/>
                    <a:lstStyle/>
                    <a:p>
                      <a:pPr algn="l"/>
                      <a:r>
                        <a:rPr lang="en-US" sz="1200" b="0" dirty="0">
                          <a:solidFill>
                            <a:srgbClr val="1A1440"/>
                          </a:solidFill>
                          <a:latin typeface="Arial"/>
                        </a:rPr>
                        <a:t>All tests</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Jan–Mar</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220,959</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234,214</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+13,255</a:t>
                      </a:r>
                    </a:p>
                  </a:txBody>
                  <a:tcPr marL="73152" marR="73152" marT="36576" marB="36576" anchor="ctr">
                    <a:lnL w="0">
                      <a:noFill/>
                    </a:lnL>
                    <a:lnR w="0">
                      <a:noFill/>
                    </a:lnR>
                    <a:lnT w="0">
                      <a:noFill/>
                    </a:lnT>
                    <a:lnB w="6350">
                      <a:solidFill>
                        <a:srgbClr val="D9D2F4"/>
                      </a:solidFill>
                    </a:lnB>
                    <a:noFill/>
                  </a:tcPr>
                </a:tc>
                <a:tc>
                  <a:txBody>
                    <a:bodyPr/>
                    <a:lstStyle/>
                    <a:p>
                      <a:pPr algn="r"/>
                      <a:r>
                        <a:rPr lang="en-US" sz="1200" b="0" dirty="0">
                          <a:solidFill>
                            <a:srgbClr val="1A1440"/>
                          </a:solidFill>
                          <a:latin typeface="Arial"/>
                        </a:rPr>
                        <a:t>+6.0%</a:t>
                      </a:r>
                    </a:p>
                  </a:txBody>
                  <a:tcPr marL="73152" marR="73152" marT="36576" marB="36576" anchor="ctr">
                    <a:lnL w="0">
                      <a:noFill/>
                    </a:lnL>
                    <a:lnR w="0">
                      <a:noFill/>
                    </a:lnR>
                    <a:lnT w="0">
                      <a:noFill/>
                    </a:lnT>
                    <a:lnB w="6350">
                      <a:solidFill>
                        <a:srgbClr val="D9D2F4"/>
                      </a:solidFill>
                    </a:lnB>
                    <a:noFill/>
                  </a:tcPr>
                </a:tc>
              </a:tr>
              <a:tr h="365760">
                <a:tc>
                  <a:txBody>
                    <a:bodyPr/>
                    <a:lstStyle/>
                    <a:p>
                      <a:pPr algn="l"/>
                      <a:r>
                        <a:rPr lang="en-US" sz="1200" b="0" dirty="0">
                          <a:solidFill>
                            <a:srgbClr val="1A1440"/>
                          </a:solidFill>
                          <a:latin typeface="Arial"/>
                        </a:rPr>
                        <a:t>All tests</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Apr–Jun</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215,343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227,416</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+12,073</a:t>
                      </a:r>
                    </a:p>
                  </a:txBody>
                  <a:tcPr marL="73152" marR="73152" marT="36576" marB="36576" anchor="ctr">
                    <a:lnL w="0">
                      <a:noFill/>
                    </a:lnL>
                    <a:lnR w="0">
                      <a:noFill/>
                    </a:lnR>
                    <a:lnT w="0">
                      <a:noFill/>
                    </a:lnT>
                    <a:lnB w="6350">
                      <a:solidFill>
                        <a:srgbClr val="D9D2F4"/>
                      </a:solidFill>
                    </a:lnB>
                    <a:solidFill>
                      <a:srgbClr val="F8F7FD"/>
                    </a:solidFill>
                  </a:tcPr>
                </a:tc>
                <a:tc>
                  <a:txBody>
                    <a:bodyPr/>
                    <a:lstStyle/>
                    <a:p>
                      <a:pPr algn="r"/>
                      <a:r>
                        <a:rPr lang="en-US" sz="1200" b="0" dirty="0">
                          <a:solidFill>
                            <a:srgbClr val="1A1440"/>
                          </a:solidFill>
                          <a:latin typeface="Arial"/>
                        </a:rPr>
                        <a:t>+5.6%</a:t>
                      </a:r>
                    </a:p>
                  </a:txBody>
                  <a:tcPr marL="73152" marR="73152" marT="36576" marB="36576" anchor="ctr">
                    <a:lnL w="0">
                      <a:noFill/>
                    </a:lnL>
                    <a:lnR w="0">
                      <a:noFill/>
                    </a:lnR>
                    <a:lnT w="0">
                      <a:noFill/>
                    </a:lnT>
                    <a:lnB w="6350">
                      <a:solidFill>
                        <a:srgbClr val="D9D2F4"/>
                      </a:solidFill>
                    </a:lnB>
                    <a:solidFill>
                      <a:srgbClr val="F8F7FD"/>
                    </a:solidFill>
                  </a:tcPr>
                </a:tc>
              </a:tr>
            </a:tbl>
          </a:graphicData>
        </a:graphic>
      </p:graphicFrame>
      <p:sp>
        <p:nvSpPr>
          <p:cNvPr id="60" name="TextBox 7"/>
          <p:cNvSpPr txBox="1"/>
          <p:nvPr/>
        </p:nvSpPr>
        <p:spPr>
          <a:xfrm>
            <a:off x="457200" y="4343400"/>
            <a:ext cx="6126480" cy="1737360"/>
          </a:xfrm>
          <a:prstGeom prst="rect">
            <a:avLst/>
          </a:prstGeom>
          <a:noFill/>
        </p:spPr>
        <p:txBody>
          <a:bodyPr wrap="square">
            <a:spAutoFit/>
          </a:bodyPr>
          <a:lstStyle/>
          <a:p>
            <a:pPr algn="l" marL="342900" indent="-342900">
              <a:spcAft>
                <a:spcPts val="500"/>
              </a:spcAft>
              <a:buFont typeface="Arial"/>
              <a:buChar char="•"/>
            </a:pPr>
            <a:r>
              <a:rPr sz="1200" b="0">
                <a:solidFill>
                  <a:srgbClr val="1A1440"/>
                </a:solidFill>
                <a:latin typeface="Arial"/>
              </a:rPr>
              <a:t>The home fee was ₹150 in every month except Jan–Mar 2026, when it was ₹0 (48,869 Home bookings; about ₹73 lakh of fees given up).</a:t>
            </a:r>
          </a:p>
          <a:p>
            <a:pPr algn="l" marL="342900" indent="-342900">
              <a:spcAft>
                <a:spcPts val="500"/>
              </a:spcAft>
              <a:buFont typeface="Arial"/>
              <a:buChar char="•"/>
            </a:pPr>
            <a:r>
              <a:rPr sz="1200" b="0">
                <a:solidFill>
                  <a:srgbClr val="1A1440"/>
                </a:solidFill>
                <a:latin typeface="Arial"/>
              </a:rPr>
              <a:t>Total growth was similar in both periods (+6.0% and +5.6%), but the mix changed: Clinic fell much more while the offer ran.</a:t>
            </a:r>
          </a:p>
          <a:p>
            <a:pPr algn="l" marL="342900" indent="-342900">
              <a:spcAft>
                <a:spcPts val="500"/>
              </a:spcAft>
              <a:buFont typeface="Arial"/>
              <a:buChar char="•"/>
            </a:pPr>
            <a:r>
              <a:rPr sz="1200" b="0">
                <a:solidFill>
                  <a:srgbClr val="1A1440"/>
                </a:solidFill>
                <a:latin typeface="Arial"/>
              </a:rPr>
              <a:t>This is a pattern, not proof. There is no control group, and we do not know who used the offer.</a:t>
            </a:r>
          </a:p>
        </p:txBody>
      </p:sp>
      <p:sp>
        <p:nvSpPr>
          <p:cNvPr id="30" name="Rounded Rectangle 8"/>
          <p:cNvSpPr/>
          <p:nvPr/>
        </p:nvSpPr>
        <p:spPr>
          <a:xfrm>
            <a:off x="6766560" y="1645920"/>
            <a:ext cx="493776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Home bookings chart" descr="Home bookings per month with fee level"/>
          <p:cNvPicPr>
            <a:picLocks noChangeAspect="1"/>
          </p:cNvPicPr>
          <p:nvPr/>
        </p:nvPicPr>
        <p:blipFill>
          <a:blip r:embed="rId4"/>
          <a:stretch>
            <a:fillRect/>
          </a:stretch>
        </p:blipFill>
        <p:spPr>
          <a:xfrm>
            <a:off x="6812280" y="1737360"/>
            <a:ext cx="4846320" cy="3657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F</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Appendix 6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F · Data checks and the cold run</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400"/>
              </a:spcAft>
            </a:pPr>
            <a:r>
              <a:rPr sz="1500" b="1">
                <a:solidFill>
                  <a:srgbClr val="1A1440"/>
                </a:solidFill>
                <a:latin typeface="Arial"/>
              </a:rPr>
              <a:t>Data checks (all passed)</a:t>
            </a:r>
          </a:p>
          <a:p>
            <a:pPr algn="l" marL="342900" indent="-342900">
              <a:spcAft>
                <a:spcPts val="500"/>
              </a:spcAft>
              <a:buFont typeface="Arial"/>
              <a:buChar char="•"/>
            </a:pPr>
            <a:r>
              <a:rPr sz="1500" b="0">
                <a:solidFill>
                  <a:srgbClr val="1A1440"/>
                </a:solidFill>
                <a:latin typeface="Arial"/>
              </a:rPr>
              <a:t>0 booking IDs with a different city, channel, source or month.</a:t>
            </a:r>
          </a:p>
          <a:p>
            <a:pPr algn="l" marL="342900" indent="-342900">
              <a:spcAft>
                <a:spcPts val="500"/>
              </a:spcAft>
              <a:buFont typeface="Arial"/>
              <a:buChar char="•"/>
            </a:pPr>
            <a:r>
              <a:rPr sz="1500" b="0">
                <a:solidFill>
                  <a:srgbClr val="1A1440"/>
                </a:solidFill>
                <a:latin typeface="Arial"/>
              </a:rPr>
              <a:t>0 test rows without a booking channel; 0 test rows without a patient ID.</a:t>
            </a:r>
          </a:p>
          <a:p>
            <a:pPr algn="l" marL="342900" indent="-342900">
              <a:spcAft>
                <a:spcPts val="500"/>
              </a:spcAft>
              <a:buFont typeface="Arial"/>
              <a:buChar char="•"/>
            </a:pPr>
            <a:r>
              <a:rPr sz="1500" b="0">
                <a:solidFill>
                  <a:srgbClr val="1A1440"/>
                </a:solidFill>
                <a:latin typeface="Arial"/>
              </a:rPr>
              <a:t>One patient per booking. 309,217 patient IDs = 309,217 people (no two IDs share a phone and name).</a:t>
            </a:r>
          </a:p>
          <a:p>
            <a:pPr algn="l" marL="342900" indent="-342900">
              <a:spcAft>
                <a:spcPts val="500"/>
              </a:spcAft>
              <a:buFont typeface="Arial"/>
              <a:buChar char="•"/>
            </a:pPr>
            <a:r>
              <a:rPr sz="1500" b="0">
                <a:solidFill>
                  <a:srgbClr val="1A1440"/>
                </a:solidFill>
                <a:latin typeface="Arial"/>
              </a:rPr>
              <a:t>City gaps add up to 54,110 tests; Home +57,213 and Clinic −31,885 add up to +25,328.</a:t>
            </a:r>
          </a:p>
          <a:p>
            <a:pPr algn="l">
              <a:spcBef>
                <a:spcPts val="900"/>
              </a:spcBef>
              <a:spcAft>
                <a:spcPts val="400"/>
              </a:spcAft>
            </a:pPr>
            <a:r>
              <a:rPr sz="1500" b="1">
                <a:solidFill>
                  <a:srgbClr val="1A1440"/>
                </a:solidFill>
                <a:latin typeface="Arial"/>
              </a:rPr>
              <a:t>Good to know</a:t>
            </a:r>
          </a:p>
          <a:p>
            <a:pPr algn="l" marL="342900" indent="-342900">
              <a:spcAft>
                <a:spcPts val="500"/>
              </a:spcAft>
              <a:buFont typeface="Arial"/>
              <a:buChar char="•"/>
            </a:pPr>
            <a:r>
              <a:rPr sz="1500" b="0">
                <a:solidFill>
                  <a:srgbClr val="1A1440"/>
                </a:solidFill>
                <a:latin typeface="Arial"/>
              </a:rPr>
              <a:t>Revenue at list price grew faster than tests: +14.1% (₹27.9 crore to ₹31.8 crore), because the average price per test rose 7.8% (₹639 to ₹689). The plan is for test volume, so we did not use revenue.</a:t>
            </a:r>
          </a:p>
          <a:p>
            <a:pPr algn="l">
              <a:spcBef>
                <a:spcPts val="900"/>
              </a:spcBef>
              <a:spcAft>
                <a:spcPts val="400"/>
              </a:spcAft>
            </a:pPr>
            <a:r>
              <a:rPr sz="1500" b="1">
                <a:solidFill>
                  <a:srgbClr val="1A1440"/>
                </a:solidFill>
                <a:latin typeface="Arial"/>
              </a:rPr>
              <a:t>The cold run (fill in after the run)</a:t>
            </a:r>
          </a:p>
          <a:p>
            <a:pPr algn="l" marL="342900" indent="-342900">
              <a:spcAft>
                <a:spcPts val="500"/>
              </a:spcAft>
              <a:buFont typeface="Arial"/>
              <a:buChar char="•"/>
            </a:pPr>
            <a:r>
              <a:rPr sz="1500" b="0">
                <a:solidFill>
                  <a:srgbClr val="1A1440"/>
                </a:solidFill>
                <a:latin typeface="Arial"/>
              </a:rPr>
              <a:t>Headline after a fresh run: 461,630 vs 436,302 tests (+5.81%), the same as the claim slide. Add the date, who ran it, the runtime and the commit.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977</Words>
  <Application>Microsoft Office PowerPoint</Application>
  <PresentationFormat>Widescreen</PresentationFormat>
  <Paragraphs>86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Gurunāth Hirvē</cp:lastModifiedBy>
  <cp:revision>2</cp:revision>
  <dcterms:created xsi:type="dcterms:W3CDTF">2013-01-27T09:14:16Z</dcterms:created>
  <dcterms:modified xsi:type="dcterms:W3CDTF">2026-10-25T10:34:08Z</dcterms:modified>
  <cp:category/>
</cp:coreProperties>
</file>