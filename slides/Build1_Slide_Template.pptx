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206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question and the claim, nothing else. Twenty seconds. The cover is read, not presented.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Her words first, then the translation in one line, then the decision. If the panel does not know what decision hangs on your answer by the end of this slide, nothing after it matters.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Point at two numbers on the picture, the two that carry the claim. Do not read the diagram aloud.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sentence. Stop. Count to two. The silence is the point; the slide has one sentence on it so the room reads it twice.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Each number with its denominator, said aloud. Point at the chart's axis label where the denominator is written. This is the slide the finance controller checks against the decisions log.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Ninety seconds. One caveat, chosen, with its size. One rejected alternative from the approach log. This slide is where the panel decides whether you thought or just computed.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End on the cost of being wrong. No thanks, no summary, no inspirational closing line. Then say 'questions' and stop talking.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during questions. When asked 'why this and not that', open the approach-log row on screen rather than answering from memory.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shown only if the panel asks. Do not present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itgn_seal.png"/>
          <p:cNvPicPr>
            <a:picLocks noChangeAspect="1"/>
          </p:cNvPicPr>
          <p:nvPr/>
        </p:nvPicPr>
        <p:blipFill>
          <a:blip r:embed="rId3"/>
          <a:stretch>
            <a:fillRect/>
          </a:stretch>
        </p:blipFill>
        <p:spPr>
          <a:xfrm>
            <a:off x="548640" y="457200"/>
            <a:ext cx="914400" cy="914400"/>
          </a:xfrm>
          <a:prstGeom prst="rect">
            <a:avLst/>
          </a:prstGeom>
        </p:spPr>
      </p:pic>
      <p:sp>
        <p:nvSpPr>
          <p:cNvPr id="4" name="TextBox 3"/>
          <p:cNvSpPr txBox="1"/>
          <p:nvPr/>
        </p:nvSpPr>
        <p:spPr>
          <a:xfrm>
            <a:off x="1645920" y="502920"/>
            <a:ext cx="8229600" cy="457200"/>
          </a:xfrm>
          <a:prstGeom prst="rect">
            <a:avLst/>
          </a:prstGeom>
          <a:noFill/>
        </p:spPr>
        <p:txBody>
          <a:bodyPr wrap="square">
            <a:spAutoFit/>
          </a:bodyPr>
          <a:lstStyle/>
          <a:p>
            <a:pPr algn="l"/>
            <a:r>
              <a:rPr sz="1100" b="1">
                <a:solidFill>
                  <a:srgbClr val="FFFFFF"/>
                </a:solidFill>
                <a:latin typeface="Arial"/>
              </a:rPr>
              <a:t>INDIAN INSTITUTE OF TECHNOLOGY GANDHINAGAR</a:t>
            </a:r>
          </a:p>
        </p:txBody>
      </p:sp>
      <p:sp>
        <p:nvSpPr>
          <p:cNvPr id="5" name="TextBox 4"/>
          <p:cNvSpPr txBox="1"/>
          <p:nvPr/>
        </p:nvSpPr>
        <p:spPr>
          <a:xfrm>
            <a:off x="1645920" y="868680"/>
            <a:ext cx="8229600" cy="457200"/>
          </a:xfrm>
          <a:prstGeom prst="rect">
            <a:avLst/>
          </a:prstGeom>
          <a:noFill/>
        </p:spPr>
        <p:txBody>
          <a:bodyPr wrap="square">
            <a:spAutoFit/>
          </a:bodyPr>
          <a:lstStyle/>
          <a:p>
            <a:pPr algn="l"/>
            <a:r>
              <a:rPr sz="1100" b="0">
                <a:solidFill>
                  <a:srgbClr val="D9A7FF"/>
                </a:solidFill>
                <a:latin typeface="Arial"/>
              </a:rPr>
              <a:t>PG Diploma in AI-ML and Agentic AI Engineering · Cohort 2 · Build 1</a:t>
            </a:r>
          </a:p>
        </p:txBody>
      </p:sp>
      <p:sp>
        <p:nvSpPr>
          <p:cNvPr id="6" name="TextBox 5"/>
          <p:cNvSpPr txBox="1"/>
          <p:nvPr/>
        </p:nvSpPr>
        <p:spPr>
          <a:xfrm>
            <a:off x="548640" y="2194560"/>
            <a:ext cx="10972800" cy="276999"/>
          </a:xfrm>
          <a:prstGeom prst="rect">
            <a:avLst/>
          </a:prstGeom>
          <a:noFill/>
        </p:spPr>
        <p:txBody>
          <a:bodyPr wrap="square">
            <a:spAutoFit/>
          </a:bodyPr>
          <a:lstStyle/>
          <a:p>
            <a:pPr algn="l"/>
            <a:r>
              <a:rPr sz="1200" b="1" dirty="0">
                <a:solidFill>
                  <a:srgbClr val="E9B04C"/>
                </a:solidFill>
                <a:latin typeface="Arial"/>
              </a:rPr>
              <a:t>BRIEF </a:t>
            </a:r>
            <a:r>
              <a:rPr lang="en-IN" sz="1200" b="1" dirty="0">
                <a:solidFill>
                  <a:srgbClr val="E9B04C"/>
                </a:solidFill>
                <a:latin typeface="Arial"/>
              </a:rPr>
              <a:t>A</a:t>
            </a:r>
            <a:r>
              <a:rPr sz="1200" b="1" dirty="0">
                <a:solidFill>
                  <a:srgbClr val="E9B04C"/>
                </a:solidFill>
                <a:latin typeface="Arial"/>
              </a:rPr>
              <a:t> · </a:t>
            </a:r>
            <a:r>
              <a:rPr lang="en-IN" sz="1200" b="1" dirty="0">
                <a:solidFill>
                  <a:srgbClr val="E9B04C"/>
                </a:solidFill>
                <a:latin typeface="Arial"/>
              </a:rPr>
              <a:t>GROWTH</a:t>
            </a:r>
            <a:r>
              <a:rPr sz="1200" b="1" dirty="0">
                <a:solidFill>
                  <a:srgbClr val="E9B04C"/>
                </a:solidFill>
                <a:latin typeface="Arial"/>
              </a:rPr>
              <a:t> · GROUP </a:t>
            </a:r>
            <a:r>
              <a:rPr lang="en-IN" sz="1200" b="1" dirty="0">
                <a:solidFill>
                  <a:srgbClr val="E9B04C"/>
                </a:solidFill>
                <a:latin typeface="Arial"/>
              </a:rPr>
              <a:t>12</a:t>
            </a:r>
            <a:endParaRPr sz="1200" b="1" dirty="0">
              <a:solidFill>
                <a:srgbClr val="E9B04C"/>
              </a:solidFill>
              <a:latin typeface="Arial"/>
            </a:endParaRPr>
          </a:p>
        </p:txBody>
      </p:sp>
      <p:sp>
        <p:nvSpPr>
          <p:cNvPr id="7" name="TextBox 6"/>
          <p:cNvSpPr txBox="1"/>
          <p:nvPr/>
        </p:nvSpPr>
        <p:spPr>
          <a:xfrm>
            <a:off x="548640" y="2651760"/>
            <a:ext cx="10972800" cy="707886"/>
          </a:xfrm>
          <a:prstGeom prst="rect">
            <a:avLst/>
          </a:prstGeom>
          <a:noFill/>
        </p:spPr>
        <p:txBody>
          <a:bodyPr wrap="square">
            <a:spAutoFit/>
          </a:bodyPr>
          <a:lstStyle/>
          <a:p>
            <a:pPr algn="l"/>
            <a:r>
              <a:rPr lang="en-IN" sz="4000" b="1" dirty="0">
                <a:solidFill>
                  <a:srgbClr val="FFFFFF"/>
                </a:solidFill>
                <a:latin typeface="Georgia"/>
              </a:rPr>
              <a:t>Which part of my business is short?</a:t>
            </a:r>
          </a:p>
        </p:txBody>
      </p:sp>
      <p:sp>
        <p:nvSpPr>
          <p:cNvPr id="8" name="TextBox 7"/>
          <p:cNvSpPr txBox="1"/>
          <p:nvPr/>
        </p:nvSpPr>
        <p:spPr>
          <a:xfrm>
            <a:off x="548640" y="4206240"/>
            <a:ext cx="10058400" cy="731520"/>
          </a:xfrm>
          <a:prstGeom prst="rect">
            <a:avLst/>
          </a:prstGeom>
          <a:noFill/>
        </p:spPr>
        <p:txBody>
          <a:bodyPr wrap="square">
            <a:spAutoFit/>
          </a:bodyPr>
          <a:lstStyle/>
          <a:p>
            <a:pPr algn="l"/>
            <a:r>
              <a:rPr sz="1800" b="0">
                <a:solidFill>
                  <a:srgbClr val="DCD6F7"/>
                </a:solidFill>
                <a:latin typeface="Arial"/>
              </a:rPr>
              <a:t>&lt;The claim, in one sentence, with its number, denominator and period&gt;</a:t>
            </a:r>
          </a:p>
        </p:txBody>
      </p:sp>
      <p:sp>
        <p:nvSpPr>
          <p:cNvPr id="9" name="TextBox 8"/>
          <p:cNvSpPr txBox="1"/>
          <p:nvPr/>
        </p:nvSpPr>
        <p:spPr>
          <a:xfrm>
            <a:off x="548640" y="5852160"/>
            <a:ext cx="10972800" cy="276999"/>
          </a:xfrm>
          <a:prstGeom prst="rect">
            <a:avLst/>
          </a:prstGeom>
          <a:noFill/>
        </p:spPr>
        <p:txBody>
          <a:bodyPr wrap="square">
            <a:spAutoFit/>
          </a:bodyPr>
          <a:lstStyle/>
          <a:p>
            <a:pPr algn="l"/>
            <a:r>
              <a:rPr lang="en-IN" sz="1200" b="0" dirty="0">
                <a:solidFill>
                  <a:srgbClr val="B9B0E6"/>
                </a:solidFill>
                <a:latin typeface="Arial"/>
              </a:rPr>
              <a:t>Gurunath Hirve</a:t>
            </a:r>
            <a:r>
              <a:rPr sz="1200" b="0" dirty="0">
                <a:solidFill>
                  <a:srgbClr val="B9B0E6"/>
                </a:solidFill>
                <a:latin typeface="Arial"/>
              </a:rPr>
              <a:t> ·</a:t>
            </a:r>
            <a:r>
              <a:rPr lang="en-IN" sz="1200" b="0" dirty="0">
                <a:solidFill>
                  <a:srgbClr val="B9B0E6"/>
                </a:solidFill>
                <a:latin typeface="Arial"/>
              </a:rPr>
              <a:t> Harshit Agrawal </a:t>
            </a:r>
            <a:r>
              <a:rPr sz="1200" b="0" dirty="0">
                <a:solidFill>
                  <a:srgbClr val="B9B0E6"/>
                </a:solidFill>
                <a:latin typeface="Arial"/>
              </a:rPr>
              <a:t>· </a:t>
            </a:r>
            <a:r>
              <a:rPr lang="en-IN" sz="1200" b="0" dirty="0">
                <a:solidFill>
                  <a:srgbClr val="B9B0E6"/>
                </a:solidFill>
                <a:latin typeface="Arial"/>
              </a:rPr>
              <a:t>Mihir Soni</a:t>
            </a:r>
            <a:endParaRPr sz="1200" b="0" dirty="0">
              <a:solidFill>
                <a:srgbClr val="B9B0E6"/>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1 · THE QUESTION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1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&lt;Dr Menon's words, and your translation&gt;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dirty="0">
                <a:solidFill>
                  <a:srgbClr val="1A1440"/>
                </a:solidFill>
                <a:latin typeface="Arial"/>
              </a:rPr>
              <a:t>Her words:</a:t>
            </a:r>
          </a:p>
          <a:p>
            <a:pPr algn="l"/>
            <a:r>
              <a:rPr sz="1600" b="0" dirty="0">
                <a:solidFill>
                  <a:srgbClr val="1A1440"/>
                </a:solidFill>
                <a:latin typeface="Arial"/>
              </a:rPr>
              <a:t>“&lt;quote&gt;”</a:t>
            </a:r>
          </a:p>
          <a:p>
            <a:pPr algn="l"/>
            <a:endParaRPr sz="1600" b="0" dirty="0">
              <a:solidFill>
                <a:srgbClr val="1A1440"/>
              </a:solidFill>
              <a:latin typeface="Arial"/>
            </a:endParaRPr>
          </a:p>
          <a:p>
            <a:pPr algn="l"/>
            <a:r>
              <a:rPr sz="1600" b="0" dirty="0">
                <a:solidFill>
                  <a:srgbClr val="1A1440"/>
                </a:solidFill>
                <a:latin typeface="Arial"/>
              </a:rPr>
              <a:t>Our translation:</a:t>
            </a:r>
          </a:p>
          <a:p>
            <a:pPr algn="l"/>
            <a:r>
              <a:rPr sz="1600" b="0" dirty="0">
                <a:solidFill>
                  <a:srgbClr val="1A1440"/>
                </a:solidFill>
                <a:latin typeface="Arial"/>
              </a:rPr>
              <a:t>&lt;the tree / the ladder / the bridge / the chance reference / the fair comparison&gt;</a:t>
            </a:r>
          </a:p>
          <a:p>
            <a:pPr algn="l"/>
            <a:endParaRPr sz="1600" b="0" dirty="0">
              <a:solidFill>
                <a:srgbClr val="1A1440"/>
              </a:solidFill>
              <a:latin typeface="Arial"/>
            </a:endParaRPr>
          </a:p>
          <a:p>
            <a:pPr algn="l"/>
            <a:r>
              <a:rPr sz="1600" b="0" dirty="0">
                <a:solidFill>
                  <a:srgbClr val="1A1440"/>
                </a:solidFill>
                <a:latin typeface="Arial"/>
              </a:rPr>
              <a:t>The decision it drives:</a:t>
            </a:r>
          </a:p>
          <a:p>
            <a:pPr algn="l"/>
            <a:r>
              <a:rPr sz="1600" b="0" dirty="0">
                <a:solidFill>
                  <a:srgbClr val="1A1440"/>
                </a:solidFill>
                <a:latin typeface="Arial"/>
              </a:rPr>
              <a:t>&lt;what she does differently depending on the answer&gt;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2 · THE PICTURE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2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&lt;Your completed diagram, numbered&gt;</a:t>
            </a:r>
          </a:p>
        </p:txBody>
      </p:sp>
      <p:sp>
        <p:nvSpPr>
          <p:cNvPr id="8" name="Rounded Rectangle 7"/>
          <p:cNvSpPr/>
          <p:nvPr/>
        </p:nvSpPr>
        <p:spPr>
          <a:xfrm>
            <a:off x="457200" y="1645920"/>
            <a:ext cx="112471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017520"/>
            <a:ext cx="10515600" cy="1463040"/>
          </a:xfrm>
          <a:prstGeom prst="rect">
            <a:avLst/>
          </a:prstGeom>
          <a:noFill/>
        </p:spPr>
        <p:txBody>
          <a:bodyPr wrap="square">
            <a:spAutoFit/>
          </a:bodyPr>
          <a:lstStyle/>
          <a:p>
            <a:pPr algn="ctr"/>
            <a:r>
              <a:rPr sz="1400" b="0">
                <a:solidFill>
                  <a:srgbClr val="6B6690"/>
                </a:solidFill>
                <a:latin typeface="Arial"/>
              </a:rPr>
              <a:t>[Insert the diagram: the tree with both years in every box, the ladder with every rung, the bridge with every bar, the chance band with the real rate marked, or the fair-comparison grid]</a:t>
            </a:r>
          </a:p>
          <a:p>
            <a:pPr algn="ctr"/>
            <a:endParaRPr sz="1400" b="0">
              <a:solidFill>
                <a:srgbClr val="6B6690"/>
              </a:solidFill>
              <a:latin typeface="Arial"/>
            </a:endParaRPr>
          </a:p>
          <a:p>
            <a:pPr algn="ctr"/>
            <a:r>
              <a:rPr sz="1400" b="0">
                <a:solidFill>
                  <a:srgbClr val="6B6690"/>
                </a:solidFill>
                <a:latin typeface="Arial"/>
              </a:rPr>
              <a:t>One diagram. No bullet points on this slide.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3 · THE CLAIM</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3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600" b="1">
                <a:solidFill>
                  <a:srgbClr val="1A1440"/>
                </a:solidFill>
                <a:latin typeface="Georgia"/>
              </a:rPr>
              <a:t>&lt;One sentence&gt;</a:t>
            </a:r>
          </a:p>
        </p:txBody>
      </p:sp>
      <p:sp>
        <p:nvSpPr>
          <p:cNvPr id="8" name="Rounded Rectangle 7"/>
          <p:cNvSpPr/>
          <p:nvPr/>
        </p:nvSpPr>
        <p:spPr>
          <a:xfrm>
            <a:off x="457200" y="2011680"/>
            <a:ext cx="11247120" cy="2377440"/>
          </a:xfrm>
          <a:prstGeom prst="roundRect">
            <a:avLst>
              <a:gd name="adj" fmla="val 8000"/>
            </a:avLst>
          </a:prstGeom>
          <a:solidFill>
            <a:srgbClr val="EEE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286000"/>
            <a:ext cx="10515600" cy="1828800"/>
          </a:xfrm>
          <a:prstGeom prst="rect">
            <a:avLst/>
          </a:prstGeom>
          <a:noFill/>
        </p:spPr>
        <p:txBody>
          <a:bodyPr wrap="square">
            <a:spAutoFit/>
          </a:bodyPr>
          <a:lstStyle/>
          <a:p>
            <a:pPr algn="ctr"/>
            <a:r>
              <a:rPr sz="2800" b="1">
                <a:solidFill>
                  <a:srgbClr val="1A0F5C"/>
                </a:solidFill>
                <a:latin typeface="Georgia"/>
              </a:rPr>
              <a:t>&lt;The sentence Dr Menon can say to her board. A number, a denominator, a period.&gt;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4 · THE EVIDENCE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4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&lt;Two or three numbers, one chart&gt;</a:t>
            </a:r>
          </a:p>
        </p:txBody>
      </p:sp>
      <p:sp>
        <p:nvSpPr>
          <p:cNvPr id="8" name="TextBox 7"/>
          <p:cNvSpPr txBox="1"/>
          <p:nvPr/>
        </p:nvSpPr>
        <p:spPr>
          <a:xfrm>
            <a:off x="457200" y="1645920"/>
            <a:ext cx="4754880" cy="4114800"/>
          </a:xfrm>
          <a:prstGeom prst="rect">
            <a:avLst/>
          </a:prstGeom>
          <a:noFill/>
        </p:spPr>
        <p:txBody>
          <a:bodyPr wrap="square">
            <a:spAutoFit/>
          </a:bodyPr>
          <a:lstStyle/>
          <a:p>
            <a:pPr algn="l"/>
            <a:r>
              <a:rPr sz="1600" b="0">
                <a:solidFill>
                  <a:srgbClr val="1A1440"/>
                </a:solidFill>
                <a:latin typeface="Arial"/>
              </a:rPr>
              <a:t>Number 1: &lt;value&gt; of &lt;denominator&gt;, &lt;period&gt;</a:t>
            </a:r>
          </a:p>
          <a:p>
            <a:pPr algn="l"/>
            <a:r>
              <a:rPr sz="1600" b="0">
                <a:solidFill>
                  <a:srgbClr val="1A1440"/>
                </a:solidFill>
                <a:latin typeface="Arial"/>
              </a:rPr>
              <a:t>Number 2: &lt;value&gt; of &lt;denominator&gt;, &lt;period&gt;</a:t>
            </a:r>
          </a:p>
          <a:p>
            <a:pPr algn="l"/>
            <a:r>
              <a:rPr sz="1600" b="0">
                <a:solidFill>
                  <a:srgbClr val="1A1440"/>
                </a:solidFill>
                <a:latin typeface="Arial"/>
              </a:rPr>
              <a:t>Number 3: &lt;value&gt; of &lt;denominator&gt;, &lt;period&gt;</a:t>
            </a:r>
          </a:p>
        </p:txBody>
      </p:sp>
      <p:sp>
        <p:nvSpPr>
          <p:cNvPr id="9" name="Rounded Rectangle 8"/>
          <p:cNvSpPr/>
          <p:nvPr/>
        </p:nvSpPr>
        <p:spPr>
          <a:xfrm>
            <a:off x="5486400" y="1645920"/>
            <a:ext cx="6217920" cy="4206240"/>
          </a:xfrm>
          <a:prstGeom prst="roundRect">
            <a:avLst>
              <a:gd name="adj" fmla="val 8000"/>
            </a:avLst>
          </a:prstGeom>
          <a:solidFill>
            <a:srgbClr val="FFFFFF"/>
          </a:solidFill>
          <a:ln>
            <a:solidFill>
              <a:srgbClr val="D9D2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0" y="3474720"/>
            <a:ext cx="5669280" cy="731520"/>
          </a:xfrm>
          <a:prstGeom prst="rect">
            <a:avLst/>
          </a:prstGeom>
          <a:noFill/>
        </p:spPr>
        <p:txBody>
          <a:bodyPr wrap="square">
            <a:spAutoFit/>
          </a:bodyPr>
          <a:lstStyle/>
          <a:p>
            <a:pPr algn="ctr"/>
            <a:r>
              <a:rPr sz="1200" b="0">
                <a:solidFill>
                  <a:srgbClr val="6B6690"/>
                </a:solidFill>
                <a:latin typeface="Arial"/>
              </a:rPr>
              <a:t>[Insert slides/slide4_chart.png]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5 · THE CAVEAT AND THE ALTERNATIVE</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5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&lt;What would change the claim; the approach you rejected&gt;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The one thing that would change this claim:</a:t>
            </a:r>
          </a:p>
          <a:p>
            <a:pPr algn="l"/>
            <a:r>
              <a:rPr sz="1600" b="0">
                <a:solidFill>
                  <a:srgbClr val="1A1440"/>
                </a:solidFill>
                <a:latin typeface="Arial"/>
              </a:rPr>
              <a:t>&lt;caveat, with the size of the effect if it is true&gt;</a:t>
            </a:r>
          </a:p>
          <a:p>
            <a:pPr algn="l"/>
            <a:endParaRPr sz="1600" b="0">
              <a:solidFill>
                <a:srgbClr val="1A1440"/>
              </a:solidFill>
              <a:latin typeface="Arial"/>
            </a:endParaRPr>
          </a:p>
          <a:p>
            <a:pPr algn="l"/>
            <a:r>
              <a:rPr sz="1600" b="0">
                <a:solidFill>
                  <a:srgbClr val="1A1440"/>
                </a:solidFill>
                <a:latin typeface="Arial"/>
              </a:rPr>
              <a:t>The approach we rejected on the way here:</a:t>
            </a:r>
          </a:p>
          <a:p>
            <a:pPr algn="l"/>
            <a:r>
              <a:rPr sz="1600" b="0">
                <a:solidFill>
                  <a:srgbClr val="1A1440"/>
                </a:solidFill>
                <a:latin typeface="Arial"/>
              </a:rPr>
              <a:t>&lt;alternative&gt;, because &lt;reason&gt;, which would have moved the number by about &lt;size&gt;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6 · THE ACTION</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6 / 6</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3000" b="1">
                <a:solidFill>
                  <a:srgbClr val="1A1440"/>
                </a:solidFill>
                <a:latin typeface="Georgia"/>
              </a:rPr>
              <a:t>&lt;What to do, what it costs, what being wrong costs&gt;</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Do: &lt;the action, on Monday&gt;</a:t>
            </a:r>
          </a:p>
          <a:p>
            <a:pPr algn="l"/>
            <a:r>
              <a:rPr sz="1600" b="0">
                <a:solidFill>
                  <a:srgbClr val="1A1440"/>
                </a:solidFill>
                <a:latin typeface="Arial"/>
              </a:rPr>
              <a:t>It costs: &lt;money, people, time&gt;</a:t>
            </a:r>
          </a:p>
          <a:p>
            <a:pPr algn="l"/>
            <a:r>
              <a:rPr sz="1600" b="0">
                <a:solidFill>
                  <a:srgbClr val="1A1440"/>
                </a:solidFill>
                <a:latin typeface="Arial"/>
              </a:rPr>
              <a:t>If we are wrong, it costs: &lt;the other side of the bet&gt;</a:t>
            </a:r>
          </a:p>
          <a:p>
            <a:pPr algn="l"/>
            <a:endParaRPr sz="1600" b="0">
              <a:solidFill>
                <a:srgbClr val="1A1440"/>
              </a:solidFill>
              <a:latin typeface="Arial"/>
            </a:endParaRPr>
          </a:p>
          <a:p>
            <a:pPr algn="l"/>
            <a:r>
              <a:rPr sz="1600" b="0">
                <a:solidFill>
                  <a:srgbClr val="1A1440"/>
                </a:solidFill>
                <a:latin typeface="Arial"/>
              </a:rPr>
              <a:t>What we would do with two more days: &lt;one line&gt;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gd name="adj" fmla="val 8000"/>
            </a:avLst>
          </a:prstGeom>
          <a:solidFill>
            <a:srgbClr val="1A0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0972800" cy="1097280"/>
          </a:xfrm>
          <a:prstGeom prst="rect">
            <a:avLst/>
          </a:prstGeom>
          <a:noFill/>
        </p:spPr>
        <p:txBody>
          <a:bodyPr wrap="square">
            <a:spAutoFit/>
          </a:bodyPr>
          <a:lstStyle/>
          <a:p>
            <a:pPr algn="l"/>
            <a:r>
              <a:rPr sz="4000" b="1">
                <a:solidFill>
                  <a:srgbClr val="FFFFFF"/>
                </a:solidFill>
                <a:latin typeface="Georgia"/>
              </a:rPr>
              <a:t>Questions</a:t>
            </a:r>
          </a:p>
        </p:txBody>
      </p:sp>
      <p:sp>
        <p:nvSpPr>
          <p:cNvPr id="4" name="TextBox 3"/>
          <p:cNvSpPr txBox="1"/>
          <p:nvPr/>
        </p:nvSpPr>
        <p:spPr>
          <a:xfrm>
            <a:off x="548640" y="3657600"/>
            <a:ext cx="10058400" cy="584775"/>
          </a:xfrm>
          <a:prstGeom prst="rect">
            <a:avLst/>
          </a:prstGeom>
          <a:noFill/>
        </p:spPr>
        <p:txBody>
          <a:bodyPr wrap="square">
            <a:spAutoFit/>
          </a:bodyPr>
          <a:lstStyle/>
          <a:p>
            <a:pPr algn="l"/>
            <a:r>
              <a:rPr sz="1600" b="0" dirty="0">
                <a:solidFill>
                  <a:srgbClr val="DCD6F7"/>
                </a:solidFill>
                <a:latin typeface="Arial"/>
              </a:rPr>
              <a:t>The approach log, the decisions log and the challenges log are open in the repository:</a:t>
            </a:r>
            <a:r>
              <a:rPr lang="en-IN" sz="1600" b="0" dirty="0">
                <a:solidFill>
                  <a:srgbClr val="DCD6F7"/>
                </a:solidFill>
                <a:latin typeface="Arial"/>
              </a:rPr>
              <a:t> </a:t>
            </a:r>
          </a:p>
          <a:p>
            <a:pPr algn="l"/>
            <a:r>
              <a:rPr lang="en-IN" sz="1600" b="0" dirty="0">
                <a:solidFill>
                  <a:srgbClr val="DCD6F7"/>
                </a:solidFill>
                <a:latin typeface="Arial"/>
              </a:rPr>
              <a:t>https://github.com/iitgn-1711/c2-build1-brief-a-group-12.git</a:t>
            </a:r>
            <a:r>
              <a:rPr sz="1600" b="0" dirty="0">
                <a:solidFill>
                  <a:srgbClr val="DCD6F7"/>
                </a:solidFill>
                <a:latin typeface="Arial"/>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A</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7 / 8</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A · The decisions that moved the headline</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Rule 1: &lt;what, why, rows, effect on headline&gt;</a:t>
            </a:r>
          </a:p>
          <a:p>
            <a:pPr algn="l"/>
            <a:r>
              <a:rPr sz="1600" b="0">
                <a:solidFill>
                  <a:srgbClr val="1A1440"/>
                </a:solidFill>
                <a:latin typeface="Arial"/>
              </a:rPr>
              <a:t>Rule 2: &lt;...&gt;</a:t>
            </a:r>
          </a:p>
          <a:p>
            <a:pPr algn="l"/>
            <a:r>
              <a:rPr sz="1600" b="0">
                <a:solidFill>
                  <a:srgbClr val="1A1440"/>
                </a:solidFill>
                <a:latin typeface="Arial"/>
              </a:rPr>
              <a:t>Rule 3: &lt;...&gt;</a:t>
            </a:r>
          </a:p>
          <a:p>
            <a:pPr algn="l"/>
            <a:endParaRPr sz="1600" b="0">
              <a:solidFill>
                <a:srgbClr val="1A1440"/>
              </a:solidFill>
              <a:latin typeface="Arial"/>
            </a:endParaRPr>
          </a:p>
          <a:p>
            <a:pPr algn="l"/>
            <a:r>
              <a:rPr sz="1600" b="0">
                <a:solidFill>
                  <a:srgbClr val="1A1440"/>
                </a:solidFill>
                <a:latin typeface="Arial"/>
              </a:rPr>
              <a:t>Every other rule is in docs/decisions-log.md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3152"/>
          </a:xfrm>
          <a:prstGeom prst="roundRect">
            <a:avLst>
              <a:gd name="adj" fmla="val 8000"/>
            </a:avLst>
          </a:prstGeom>
          <a:solidFill>
            <a:srgbClr val="4E38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
            <a:ext cx="7315200" cy="365760"/>
          </a:xfrm>
          <a:prstGeom prst="rect">
            <a:avLst/>
          </a:prstGeom>
          <a:noFill/>
        </p:spPr>
        <p:txBody>
          <a:bodyPr wrap="square">
            <a:spAutoFit/>
          </a:bodyPr>
          <a:lstStyle/>
          <a:p>
            <a:pPr algn="l"/>
            <a:r>
              <a:rPr sz="1000" b="1">
                <a:solidFill>
                  <a:srgbClr val="4E38AB"/>
                </a:solidFill>
                <a:latin typeface="Arial"/>
              </a:rPr>
              <a:t>APPENDIX B</a:t>
            </a:r>
          </a:p>
        </p:txBody>
      </p:sp>
      <p:sp>
        <p:nvSpPr>
          <p:cNvPr id="4" name="TextBox 3"/>
          <p:cNvSpPr txBox="1"/>
          <p:nvPr/>
        </p:nvSpPr>
        <p:spPr>
          <a:xfrm>
            <a:off x="10332720" y="228600"/>
            <a:ext cx="1463040" cy="365760"/>
          </a:xfrm>
          <a:prstGeom prst="rect">
            <a:avLst/>
          </a:prstGeom>
          <a:noFill/>
        </p:spPr>
        <p:txBody>
          <a:bodyPr wrap="square">
            <a:spAutoFit/>
          </a:bodyPr>
          <a:lstStyle/>
          <a:p>
            <a:pPr algn="r"/>
            <a:r>
              <a:rPr sz="1000" b="0">
                <a:solidFill>
                  <a:srgbClr val="6B6690"/>
                </a:solidFill>
                <a:latin typeface="Arial"/>
              </a:rPr>
              <a:t>8 / 8</a:t>
            </a:r>
          </a:p>
        </p:txBody>
      </p:sp>
      <p:pic>
        <p:nvPicPr>
          <p:cNvPr id="5" name="Picture 4" descr="iitgn_seal.png"/>
          <p:cNvPicPr>
            <a:picLocks noChangeAspect="1"/>
          </p:cNvPicPr>
          <p:nvPr/>
        </p:nvPicPr>
        <p:blipFill>
          <a:blip r:embed="rId3"/>
          <a:stretch>
            <a:fillRect/>
          </a:stretch>
        </p:blipFill>
        <p:spPr>
          <a:xfrm>
            <a:off x="457200" y="6263640"/>
            <a:ext cx="411480" cy="411480"/>
          </a:xfrm>
          <a:prstGeom prst="rect">
            <a:avLst/>
          </a:prstGeom>
        </p:spPr>
      </p:pic>
      <p:sp>
        <p:nvSpPr>
          <p:cNvPr id="6" name="TextBox 5"/>
          <p:cNvSpPr txBox="1"/>
          <p:nvPr/>
        </p:nvSpPr>
        <p:spPr>
          <a:xfrm>
            <a:off x="960120" y="6309360"/>
            <a:ext cx="9144000" cy="365760"/>
          </a:xfrm>
          <a:prstGeom prst="rect">
            <a:avLst/>
          </a:prstGeom>
          <a:noFill/>
        </p:spPr>
        <p:txBody>
          <a:bodyPr wrap="square">
            <a:spAutoFit/>
          </a:bodyPr>
          <a:lstStyle/>
          <a:p>
            <a:pPr algn="l"/>
            <a:r>
              <a:rPr sz="800" b="0">
                <a:solidFill>
                  <a:srgbClr val="6B6690"/>
                </a:solidFill>
                <a:latin typeface="Arial"/>
              </a:rPr>
              <a:t>Indian Institute of Technology Gandhinagar · PG Diploma in AI-ML and Agentic AI Engineering · Cohort 2 · Build 1</a:t>
            </a:r>
          </a:p>
        </p:txBody>
      </p:sp>
      <p:sp>
        <p:nvSpPr>
          <p:cNvPr id="7" name="TextBox 6"/>
          <p:cNvSpPr txBox="1"/>
          <p:nvPr/>
        </p:nvSpPr>
        <p:spPr>
          <a:xfrm>
            <a:off x="457200" y="640080"/>
            <a:ext cx="11247120" cy="914400"/>
          </a:xfrm>
          <a:prstGeom prst="rect">
            <a:avLst/>
          </a:prstGeom>
          <a:noFill/>
        </p:spPr>
        <p:txBody>
          <a:bodyPr wrap="square">
            <a:spAutoFit/>
          </a:bodyPr>
          <a:lstStyle/>
          <a:p>
            <a:pPr algn="l"/>
            <a:r>
              <a:rPr sz="2400" b="1">
                <a:solidFill>
                  <a:srgbClr val="1A1440"/>
                </a:solidFill>
                <a:latin typeface="Georgia"/>
              </a:rPr>
              <a:t>Appendix B · The cold run</a:t>
            </a:r>
          </a:p>
        </p:txBody>
      </p:sp>
      <p:sp>
        <p:nvSpPr>
          <p:cNvPr id="8" name="TextBox 7"/>
          <p:cNvSpPr txBox="1"/>
          <p:nvPr/>
        </p:nvSpPr>
        <p:spPr>
          <a:xfrm>
            <a:off x="457200" y="1645920"/>
            <a:ext cx="11247120" cy="4206240"/>
          </a:xfrm>
          <a:prstGeom prst="rect">
            <a:avLst/>
          </a:prstGeom>
          <a:noFill/>
        </p:spPr>
        <p:txBody>
          <a:bodyPr wrap="square">
            <a:spAutoFit/>
          </a:bodyPr>
          <a:lstStyle/>
          <a:p>
            <a:pPr algn="l"/>
            <a:r>
              <a:rPr sz="1600" b="0">
                <a:solidFill>
                  <a:srgbClr val="1A1440"/>
                </a:solidFill>
                <a:latin typeface="Arial"/>
              </a:rPr>
              <a:t>Fresh Codespace, &lt;date&gt;, run by &lt;member who did not write the notebooks&gt;</a:t>
            </a:r>
          </a:p>
          <a:p>
            <a:pPr algn="l"/>
            <a:r>
              <a:rPr sz="1600" b="0">
                <a:solidFill>
                  <a:srgbClr val="1A1440"/>
                </a:solidFill>
                <a:latin typeface="Arial"/>
              </a:rPr>
              <a:t>Runtime: &lt;m:ss&gt;</a:t>
            </a:r>
          </a:p>
          <a:p>
            <a:pPr algn="l"/>
            <a:r>
              <a:rPr sz="1600" b="0">
                <a:solidFill>
                  <a:srgbClr val="1A1440"/>
                </a:solidFill>
                <a:latin typeface="Arial"/>
              </a:rPr>
              <a:t>Headline: &lt;number&gt;, identical to slide 3</a:t>
            </a:r>
          </a:p>
          <a:p>
            <a:pPr algn="l"/>
            <a:r>
              <a:rPr sz="1600" b="0">
                <a:solidFill>
                  <a:srgbClr val="1A1440"/>
                </a:solidFill>
                <a:latin typeface="Arial"/>
              </a:rPr>
              <a:t>Commit: &lt;short SHA&gt;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977</Words>
  <Application>Microsoft Office PowerPoint</Application>
  <PresentationFormat>Widescreen</PresentationFormat>
  <Paragraphs>86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Gurunāth Hirvē</cp:lastModifiedBy>
  <cp:revision>2</cp:revision>
  <dcterms:created xsi:type="dcterms:W3CDTF">2013-01-27T09:14:16Z</dcterms:created>
  <dcterms:modified xsi:type="dcterms:W3CDTF">2026-10-25T16:44:34Z</dcterms:modified>
  <cp:category/>
</cp:coreProperties>
</file>