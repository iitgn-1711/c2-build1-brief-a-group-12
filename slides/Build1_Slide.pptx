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Test lines</c:v>
                </c:pt>
              </c:strCache>
            </c:strRef>
          </c:tx>
          <c:spPr>
            <a:solidFill>
              <a:srgbClr val="A6A6A6"/>
            </a:solidFill>
            <a:effectLst/>
          </c:spPr>
          <c:invertIfNegative val="0"/>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2E75B6"/>
              </a:solidFill>
              <a:effectLst/>
            </c:spPr>
          </c:dPt>
          <c:dPt>
            <c:idx val="2"/>
            <c:invertIfNegative val="0"/>
            <c:bubble3D val="0"/>
            <c:spPr>
              <a:solidFill>
                <a:srgbClr val="9DC3E6"/>
              </a:solidFill>
              <a:effectLst/>
            </c:spPr>
          </c:dPt>
          <c:cat>
            <c:multiLvlStrRef>
              <c:f>Sheet1!$A$2:$A$4</c:f>
              <c:multiLvlStrCache>
                <c:ptCount val="3"/>
                <c:lvl>
                  <c:pt idx="0">
                    <c:v>H1 2025 actual</c:v>
                  </c:pt>
                  <c:pt idx="1">
                    <c:v>H1 2026 actual</c:v>
                  </c:pt>
                  <c:pt idx="2">
                    <c:v>H1 2026 plan</c:v>
                  </c:pt>
                </c:lvl>
              </c:multiLvlStrCache>
            </c:multiLvlStrRef>
          </c:cat>
          <c:val>
            <c:numRef>
              <c:f>Sheet1!$B$2:$B$4</c:f>
              <c:numCache>
                <c:formatCode>General</c:formatCode>
                <c:ptCount val="3"/>
                <c:pt idx="0">
                  <c:v>436302</c:v>
                </c:pt>
                <c:pt idx="1">
                  <c:v>461630</c:v>
                </c:pt>
                <c:pt idx="2">
                  <c:v>515740</c:v>
                </c:pt>
              </c:numCache>
            </c:numRef>
          </c:val>
        </c:ser>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62626"/>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Tests below plan</c:v>
                </c:pt>
              </c:strCache>
            </c:strRef>
          </c:tx>
          <c:spPr>
            <a:solidFill>
              <a:srgbClr val="1F3A5F"/>
            </a:solidFill>
            <a:effectLst/>
          </c:spPr>
          <c:invertIfNegative val="0"/>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1F3A5F"/>
              </a:solidFill>
              <a:effectLst/>
            </c:spPr>
          </c:dPt>
          <c:dPt>
            <c:idx val="1"/>
            <c:invertIfNegative val="0"/>
            <c:bubble3D val="0"/>
            <c:spPr>
              <a:solidFill>
                <a:srgbClr val="1F3A5F"/>
              </a:solidFill>
              <a:effectLst/>
            </c:spPr>
          </c:dPt>
          <c:dPt>
            <c:idx val="2"/>
            <c:invertIfNegative val="0"/>
            <c:bubble3D val="0"/>
            <c:spPr>
              <a:solidFill>
                <a:srgbClr val="1F3A5F"/>
              </a:solidFill>
              <a:effectLst/>
            </c:spPr>
          </c:dPt>
          <c:dPt>
            <c:idx val="3"/>
            <c:invertIfNegative val="0"/>
            <c:bubble3D val="0"/>
            <c:spPr>
              <a:solidFill>
                <a:srgbClr val="9DC3E6"/>
              </a:solidFill>
              <a:effectLst/>
            </c:spPr>
          </c:dPt>
          <c:dPt>
            <c:idx val="4"/>
            <c:invertIfNegative val="0"/>
            <c:bubble3D val="0"/>
            <c:spPr>
              <a:solidFill>
                <a:srgbClr val="9DC3E6"/>
              </a:solidFill>
              <a:effectLst/>
            </c:spPr>
          </c:dPt>
          <c:dPt>
            <c:idx val="5"/>
            <c:invertIfNegative val="0"/>
            <c:bubble3D val="0"/>
            <c:spPr>
              <a:solidFill>
                <a:srgbClr val="9DC3E6"/>
              </a:solidFill>
              <a:effectLst/>
            </c:spPr>
          </c:dPt>
          <c:cat>
            <c:multiLvlStrRef>
              <c:f>Sheet1!$A$2:$A$7</c:f>
              <c:multiLvlStrCache>
                <c:ptCount val="6"/>
                <c:lvl>
                  <c:pt idx="0">
                    <c:v>Bangalore</c:v>
                  </c:pt>
                  <c:pt idx="1">
                    <c:v>Jaipur</c:v>
                  </c:pt>
                  <c:pt idx="2">
                    <c:v>Chennai</c:v>
                  </c:pt>
                  <c:pt idx="3">
                    <c:v>Hyderabad</c:v>
                  </c:pt>
                  <c:pt idx="4">
                    <c:v>Pune</c:v>
                  </c:pt>
                  <c:pt idx="5">
                    <c:v>Ahmedabad</c:v>
                  </c:pt>
                </c:lvl>
              </c:multiLvlStrCache>
            </c:multiLvlStrRef>
          </c:cat>
          <c:val>
            <c:numRef>
              <c:f>Sheet1!$B$2:$B$7</c:f>
              <c:numCache>
                <c:formatCode>General</c:formatCode>
                <c:ptCount val="6"/>
                <c:pt idx="0">
                  <c:v>12424</c:v>
                </c:pt>
                <c:pt idx="1">
                  <c:v>10882</c:v>
                </c:pt>
                <c:pt idx="2">
                  <c:v>10766</c:v>
                </c:pt>
                <c:pt idx="3">
                  <c:v>7747</c:v>
                </c:pt>
                <c:pt idx="4">
                  <c:v>6602</c:v>
                </c:pt>
                <c:pt idx="5">
                  <c:v>5689</c:v>
                </c:pt>
              </c:numCache>
            </c:numRef>
          </c:val>
        </c:ser>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62626"/>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H1 2025</c:v>
                </c:pt>
              </c:strCache>
            </c:strRef>
          </c:tx>
          <c:spPr>
            <a:solidFill>
              <a:srgbClr val="A6A6A6"/>
            </a:solidFill>
            <a:effectLst/>
          </c:spPr>
          <c:invertIfNegative val="0"/>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cat>
            <c:multiLvlStrRef>
              <c:f>Sheet1!$A$2:$A$3</c:f>
              <c:multiLvlStrCache>
                <c:ptCount val="2"/>
                <c:lvl>
                  <c:pt idx="0">
                    <c:v>Home</c:v>
                  </c:pt>
                  <c:pt idx="1">
                    <c:v>Clinic</c:v>
                  </c:pt>
                </c:lvl>
              </c:multiLvlStrCache>
            </c:multiLvlStrRef>
          </c:cat>
          <c:val>
            <c:numRef>
              <c:f>Sheet1!$B$2:$B$3</c:f>
              <c:numCache>
                <c:formatCode>General</c:formatCode>
                <c:ptCount val="2"/>
                <c:pt idx="0">
                  <c:v>149116</c:v>
                </c:pt>
                <c:pt idx="1">
                  <c:v>287186</c:v>
                </c:pt>
              </c:numCache>
            </c:numRef>
          </c:val>
        </c:ser>
        <c:ser>
          <c:idx val="1"/>
          <c:order val="1"/>
          <c:tx>
            <c:strRef>
              <c:f>Sheet1!$C$1</c:f>
              <c:strCache>
                <c:ptCount val="1"/>
                <c:pt idx="0">
                  <c:v>H1 2026</c:v>
                </c:pt>
              </c:strCache>
            </c:strRef>
          </c:tx>
          <c:spPr>
            <a:solidFill>
              <a:srgbClr val="2E75B6"/>
            </a:solidFill>
            <a:effectLst/>
          </c:spPr>
          <c:invertIfNegative val="0"/>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cat>
            <c:multiLvlStrRef>
              <c:f>Sheet1!$A$2:$A$3</c:f>
              <c:multiLvlStrCache>
                <c:ptCount val="2"/>
                <c:lvl>
                  <c:pt idx="0">
                    <c:v>Home</c:v>
                  </c:pt>
                  <c:pt idx="1">
                    <c:v>Clinic</c:v>
                  </c:pt>
                </c:lvl>
              </c:multiLvlStrCache>
            </c:multiLvlStrRef>
          </c:cat>
          <c:val>
            <c:numRef>
              <c:f>Sheet1!$C$2:$C$3</c:f>
              <c:numCache>
                <c:formatCode>General</c:formatCode>
                <c:ptCount val="2"/>
                <c:pt idx="0">
                  <c:v>206329</c:v>
                </c:pt>
                <c:pt idx="1">
                  <c:v>255301</c:v>
                </c:pt>
              </c:numCache>
            </c:numRef>
          </c:val>
        </c:ser>
        <c:dLbls>
          <c:numFmt formatCode="#,##0" sourceLinked="0"/>
          <c:txPr>
            <a:bodyPr/>
            <a:lstStyle/>
            <a:p>
              <a:pPr>
                <a:defRPr b="0" i="0" strike="noStrike" sz="1200" u="none">
                  <a:solidFill>
                    <a:srgbClr val="262626"/>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62626"/>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6262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question and the answer together: we planned about 18% growth, we got under 6%, and that leaves us 54,110 tests short. Keep it to twenty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 to bottom. Last year 436 thousand, this year 462 thousand, plan was 516 thousand. The gap is 54 thousand tests, or 12.4 percentage points of growth. Then the three points below: all cities missed, three cities carry most of it, Clinic is falling while Home is growing. Finish on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her question, then the one-line decision. If the room cannot say what decision hangs on this by the end of the slide, nothing after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sentence slowly: 461,630 against 436,302 last year is 5.81% growth. The plan needed 515,740, which is 18.21%. The difference is 12.4 percentage points, or 54,110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is sorted by gap. Bangalore is the largest in tests, 12,424. Jaipur has the lowest attainment at 79.2%, so it stands out relative to its size. Totals match the headline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data as the table, shown as tests below plan. Bangalore 12,424, Jaipur 10,882, Chennai 10,766. Together 34,072 tests out of 54,110. Jaipur is our smallest city by plan but has the second-largest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went from 149 thousand to 206 thousand. Clinic went from 287 thousand to 255 thousand. Home added 57 thousand and Clinic lost 32 thousand, so net growth is only 25 thousand. Clinic is still the larger channel. Capacity, slots and conversion are things to check, not proven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caveat: our volume is booked test lines. If the plan means completed lab results, the gap could change, so confirm the plan definition. One rejected approach: deduplicating test rows by booking ID would drop legitimate multi-test bookings.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on the ask and the cost of being wrong. Spending on discounts or capacity before we know the driver risks money in the wrong place. Then say questions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about data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29600" y="274320"/>
            <a:ext cx="457200" cy="457200"/>
          </a:xfrm>
          <a:prstGeom prst="rect">
            <a:avLst/>
          </a:prstGeom>
        </p:spPr>
      </p:pic>
      <p:sp>
        <p:nvSpPr>
          <p:cNvPr id="3" name="Shape 0"/>
          <p:cNvSpPr/>
          <p:nvPr/>
        </p:nvSpPr>
        <p:spPr>
          <a:xfrm>
            <a:off x="457200" y="1005840"/>
            <a:ext cx="8229600" cy="0"/>
          </a:xfrm>
          <a:prstGeom prst="line">
            <a:avLst/>
          </a:prstGeom>
          <a:noFill/>
          <a:ln w="12700">
            <a:solidFill>
              <a:srgbClr val="D9D9D9"/>
            </a:solidFill>
            <a:prstDash val="solid"/>
          </a:ln>
        </p:spPr>
      </p:sp>
      <p:sp>
        <p:nvSpPr>
          <p:cNvPr id="4" name="Text 1"/>
          <p:cNvSpPr/>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7F7F7F"/>
                </a:solidFill>
                <a:latin typeface="Calibri" pitchFamily="34" charset="0"/>
                <a:ea typeface="Calibri" pitchFamily="34" charset="-122"/>
                <a:cs typeface="Calibri" pitchFamily="34" charset="-120"/>
              </a:rPr>
              <a:t>Kalpa Health  |  Brief A: H1 test growth vs plan</a:t>
            </a:r>
            <a:endParaRPr lang="en-US" sz="900" dirty="0"/>
          </a:p>
        </p:txBody>
      </p:sp>
      <p:sp>
        <p:nvSpPr>
          <p:cNvPr id="5" name="Text 2"/>
          <p:cNvSpPr/>
          <p:nvPr>
            <p:ph idx="103" type="title" hasCustomPrompt="1"/>
          </p:nvPr>
        </p:nvSpPr>
        <p:spPr>
          <a:xfrm>
            <a:off x="457200" y="274320"/>
            <a:ext cx="7589520" cy="640080"/>
          </a:xfrm>
          <a:prstGeom prst="rect">
            <a:avLst/>
          </a:prstGeom>
          <a:noFill/>
          <a:ln/>
        </p:spPr>
        <p:txBody>
          <a:bodyPr wrap="square" rtlCol="0"/>
          <a:lstStyle>
            <a:lvl1pPr algn="l" indent="0" marL="0">
              <a:buNone/>
              <a:defRPr lang="en-US" sz="2400" b="1" dirty="0">
                <a:solidFill>
                  <a:srgbClr val="1F3A5F"/>
                </a:solidFill>
                <a:latin typeface="Calibri" pitchFamily="34" charset="0"/>
                <a:ea typeface="Calibri" pitchFamily="34" charset="-122"/>
                <a:cs typeface="Calibri"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480560"/>
            <a:ext cx="9144000" cy="662940"/>
          </a:xfrm>
          <a:prstGeom prst="rect">
            <a:avLst/>
          </a:prstGeom>
          <a:solidFill>
            <a:srgbClr val="1F3A5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1554480" y="530352"/>
            <a:ext cx="6400800" cy="274320"/>
          </a:xfrm>
          <a:prstGeom prst="rect">
            <a:avLst/>
          </a:prstGeom>
          <a:noFill/>
          <a:ln/>
        </p:spPr>
        <p:txBody>
          <a:bodyPr wrap="square" lIns="0" tIns="0" rIns="0" bIns="0" rtlCol="0" anchor="t"/>
          <a:lstStyle/>
          <a:p>
            <a:pPr indent="0" marL="0">
              <a:buNone/>
            </a:pPr>
            <a:r>
              <a:rPr lang="en-US" sz="1400" b="1" dirty="0">
                <a:solidFill>
                  <a:srgbClr val="1F3A5F"/>
                </a:solidFill>
                <a:latin typeface="Calibri" pitchFamily="34" charset="0"/>
                <a:ea typeface="Calibri" pitchFamily="34" charset="-122"/>
                <a:cs typeface="Calibri" pitchFamily="34" charset="-120"/>
              </a:rPr>
              <a:t>Indian Institute of Technology Gandhinagar</a:t>
            </a:r>
            <a:endParaRPr lang="en-US" sz="1400" dirty="0"/>
          </a:p>
        </p:txBody>
      </p:sp>
      <p:sp>
        <p:nvSpPr>
          <p:cNvPr id="4" name="Text 1"/>
          <p:cNvSpPr txBox="1"/>
          <p:nvPr/>
        </p:nvSpPr>
        <p:spPr>
          <a:xfrm>
            <a:off x="1554480" y="822960"/>
            <a:ext cx="6858000" cy="274320"/>
          </a:xfrm>
          <a:prstGeom prst="rect">
            <a:avLst/>
          </a:prstGeom>
          <a:noFill/>
          <a:ln/>
        </p:spPr>
        <p:txBody>
          <a:bodyPr wrap="square" lIns="0" tIns="0" rIns="0" bIns="0" rtlCol="0" anchor="t"/>
          <a:lstStyle/>
          <a:p>
            <a:pPr indent="0" marL="0">
              <a:buNone/>
            </a:pPr>
            <a:r>
              <a:rPr lang="en-US" sz="1200" dirty="0">
                <a:solidFill>
                  <a:srgbClr val="595959"/>
                </a:solidFill>
                <a:latin typeface="Calibri" pitchFamily="34" charset="0"/>
                <a:ea typeface="Calibri" pitchFamily="34" charset="-122"/>
                <a:cs typeface="Calibri" pitchFamily="34" charset="-120"/>
              </a:rPr>
              <a:t>PG Diploma in AI-ML and Agentic AI Engineering  |  Cohort 2  |  Build 1</a:t>
            </a:r>
            <a:endParaRPr lang="en-US" sz="1200" dirty="0"/>
          </a:p>
        </p:txBody>
      </p:sp>
      <p:sp>
        <p:nvSpPr>
          <p:cNvPr id="5" name="Text 2"/>
          <p:cNvSpPr txBox="1"/>
          <p:nvPr/>
        </p:nvSpPr>
        <p:spPr>
          <a:xfrm>
            <a:off x="548640" y="1828800"/>
            <a:ext cx="8046720" cy="731520"/>
          </a:xfrm>
          <a:prstGeom prst="rect">
            <a:avLst/>
          </a:prstGeom>
          <a:noFill/>
          <a:ln/>
        </p:spPr>
        <p:txBody>
          <a:bodyPr wrap="square" lIns="0" tIns="0" rIns="0" bIns="0" rtlCol="0" anchor="ctr"/>
          <a:lstStyle/>
          <a:p>
            <a:pPr indent="0" marL="0">
              <a:buNone/>
            </a:pPr>
            <a:r>
              <a:rPr lang="en-US" sz="3600" b="1" dirty="0">
                <a:solidFill>
                  <a:srgbClr val="1F3A5F"/>
                </a:solidFill>
                <a:latin typeface="Calibri" pitchFamily="34" charset="0"/>
                <a:ea typeface="Calibri" pitchFamily="34" charset="-122"/>
                <a:cs typeface="Calibri" pitchFamily="34" charset="-120"/>
              </a:rPr>
              <a:t>Why did H1 test growth miss plan?</a:t>
            </a:r>
            <a:endParaRPr lang="en-US" sz="3600" dirty="0"/>
          </a:p>
        </p:txBody>
      </p:sp>
      <p:sp>
        <p:nvSpPr>
          <p:cNvPr id="6" name="Text 3"/>
          <p:cNvSpPr txBox="1"/>
          <p:nvPr/>
        </p:nvSpPr>
        <p:spPr>
          <a:xfrm>
            <a:off x="548640" y="2606040"/>
            <a:ext cx="8046720" cy="365760"/>
          </a:xfrm>
          <a:prstGeom prst="rect">
            <a:avLst/>
          </a:prstGeom>
          <a:noFill/>
          <a:ln/>
        </p:spPr>
        <p:txBody>
          <a:bodyPr wrap="square" lIns="0" tIns="0" rIns="0" bIns="0" rtlCol="0" anchor="t"/>
          <a:lstStyle/>
          <a:p>
            <a:pPr indent="0" marL="0">
              <a:buNone/>
            </a:pPr>
            <a:r>
              <a:rPr lang="en-US" sz="1800" dirty="0">
                <a:solidFill>
                  <a:srgbClr val="595959"/>
                </a:solidFill>
                <a:latin typeface="Calibri" pitchFamily="34" charset="0"/>
                <a:ea typeface="Calibri" pitchFamily="34" charset="-122"/>
                <a:cs typeface="Calibri" pitchFamily="34" charset="-120"/>
              </a:rPr>
              <a:t>Brief A: growth analysis for manager review</a:t>
            </a:r>
            <a:endParaRPr lang="en-US" sz="1800" dirty="0"/>
          </a:p>
        </p:txBody>
      </p:sp>
      <p:sp>
        <p:nvSpPr>
          <p:cNvPr id="7" name="Text 4"/>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H1 2025 vs H1 2026  |  Kalpa Health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H1 test volume grew 5.8% against an 18.2% plan</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572000" cy="914400"/>
        </p:xfrm>
        <a:graphic>
          <a:graphicData uri="http://schemas.openxmlformats.org/drawingml/2006/table">
            <a:tbl>
              <a:tblPr/>
              <a:tblGrid>
                <a:gridCol w="2011680"/>
                <a:gridCol w="1188720"/>
                <a:gridCol w="1371600"/>
              </a:tblGrid>
              <a:tr h="384048">
                <a:tc>
                  <a:txBody>
                    <a:bodyPr/>
                    <a:lstStyle/>
                    <a:p>
                      <a:pPr algn="l" indent="0" marL="0">
                        <a:buNone/>
                      </a:pPr>
                      <a:r>
                        <a:rPr lang="en-US" sz="1400" b="1" dirty="0">
                          <a:solidFill>
                            <a:srgbClr val="1F3A5F"/>
                          </a:solidFill>
                          <a:latin typeface="Calibri" pitchFamily="34" charset="0"/>
                          <a:ea typeface="Calibri" pitchFamily="34" charset="-122"/>
                          <a:cs typeface="Calibri" pitchFamily="34" charset="-120"/>
                        </a:rPr>
                        <a:t>Test lines, H1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Volume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Growth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r>
              <a:tr h="384048">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H1 2025 actual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436,302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84048">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H1 2026 actual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461,630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+5.81%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84048">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H1 2026 plan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515,740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+18.21%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84048">
                <a:tc>
                  <a:txBody>
                    <a:bodyPr/>
                    <a:lstStyle/>
                    <a:p>
                      <a:pPr algn="l" indent="0" marL="0">
                        <a:buNone/>
                      </a:pPr>
                      <a:r>
                        <a:rPr lang="en-US" sz="1400" b="1" dirty="0">
                          <a:solidFill>
                            <a:srgbClr val="C00000"/>
                          </a:solidFill>
                          <a:latin typeface="Calibri" pitchFamily="34" charset="0"/>
                          <a:ea typeface="Calibri" pitchFamily="34" charset="-122"/>
                          <a:cs typeface="Calibri" pitchFamily="34" charset="-120"/>
                        </a:rPr>
                        <a:t>Shortfall vs plan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C00000"/>
                          </a:solidFill>
                          <a:latin typeface="Calibri" pitchFamily="34" charset="0"/>
                          <a:ea typeface="Calibri" pitchFamily="34" charset="-122"/>
                          <a:cs typeface="Calibri" pitchFamily="34" charset="-120"/>
                        </a:rPr>
                        <a:t>54,110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C00000"/>
                          </a:solidFill>
                          <a:latin typeface="Calibri" pitchFamily="34" charset="0"/>
                          <a:ea typeface="Calibri" pitchFamily="34" charset="-122"/>
                          <a:cs typeface="Calibri" pitchFamily="34" charset="-120"/>
                        </a:rPr>
                        <a:t>12.40 pp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5" name="Text 1"/>
          <p:cNvSpPr txBox="1"/>
          <p:nvPr/>
        </p:nvSpPr>
        <p:spPr>
          <a:xfrm>
            <a:off x="457200" y="3337560"/>
            <a:ext cx="4572000" cy="274320"/>
          </a:xfrm>
          <a:prstGeom prst="rect">
            <a:avLst/>
          </a:prstGeom>
          <a:noFill/>
          <a:ln/>
        </p:spPr>
        <p:txBody>
          <a:bodyPr wrap="square" lIns="0" tIns="0" rIns="0" bIns="0" rtlCol="0" anchor="t"/>
          <a:lstStyle/>
          <a:p>
            <a:pPr indent="0" marL="0">
              <a:buNone/>
            </a:pPr>
            <a:r>
              <a:rPr lang="en-US" sz="1300" dirty="0">
                <a:solidFill>
                  <a:srgbClr val="595959"/>
                </a:solidFill>
                <a:latin typeface="Calibri" pitchFamily="34" charset="0"/>
                <a:ea typeface="Calibri" pitchFamily="34" charset="-122"/>
                <a:cs typeface="Calibri" pitchFamily="34" charset="-120"/>
              </a:rPr>
              <a:t>Actual volume reached 89.5% of plan.</a:t>
            </a:r>
            <a:endParaRPr lang="en-US" sz="1300" dirty="0"/>
          </a:p>
        </p:txBody>
      </p:sp>
      <p:sp>
        <p:nvSpPr>
          <p:cNvPr id="6" name="Text 2"/>
          <p:cNvSpPr txBox="1"/>
          <p:nvPr/>
        </p:nvSpPr>
        <p:spPr>
          <a:xfrm>
            <a:off x="5486400" y="1234440"/>
            <a:ext cx="3200400" cy="274320"/>
          </a:xfrm>
          <a:prstGeom prst="rect">
            <a:avLst/>
          </a:prstGeom>
          <a:noFill/>
          <a:ln/>
        </p:spPr>
        <p:txBody>
          <a:bodyPr wrap="square" lIns="0" tIns="0" rIns="0" bIns="0" rtlCol="0" anchor="t"/>
          <a:lstStyle/>
          <a:p>
            <a:pPr indent="0" marL="0">
              <a:buNone/>
            </a:pPr>
            <a:r>
              <a:rPr lang="en-US" sz="1400" b="1" dirty="0">
                <a:solidFill>
                  <a:srgbClr val="1F3A5F"/>
                </a:solidFill>
                <a:latin typeface="Calibri" pitchFamily="34" charset="0"/>
                <a:ea typeface="Calibri" pitchFamily="34" charset="-122"/>
                <a:cs typeface="Calibri" pitchFamily="34" charset="-120"/>
              </a:rPr>
              <a:t>Key points</a:t>
            </a:r>
            <a:endParaRPr lang="en-US" sz="1400" dirty="0"/>
          </a:p>
        </p:txBody>
      </p:sp>
      <p:sp>
        <p:nvSpPr>
          <p:cNvPr id="7" name="Text 3"/>
          <p:cNvSpPr txBox="1"/>
          <p:nvPr/>
        </p:nvSpPr>
        <p:spPr>
          <a:xfrm>
            <a:off x="5486400" y="1600200"/>
            <a:ext cx="320040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All six cities are below plan.</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Bangalore, Jaipur and Chennai account for 63% of the gap.</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Home tests grew 38.4%; Clinic tests fell 11.1%.</a:t>
            </a:r>
            <a:endParaRPr lang="en-US" sz="1400" dirty="0"/>
          </a:p>
        </p:txBody>
      </p:sp>
      <p:sp>
        <p:nvSpPr>
          <p:cNvPr id="8" name="Shape 4"/>
          <p:cNvSpPr/>
          <p:nvPr/>
        </p:nvSpPr>
        <p:spPr>
          <a:xfrm>
            <a:off x="457200" y="3840480"/>
            <a:ext cx="8229600" cy="0"/>
          </a:xfrm>
          <a:prstGeom prst="line">
            <a:avLst/>
          </a:prstGeom>
          <a:noFill/>
          <a:ln w="12700">
            <a:solidFill>
              <a:srgbClr val="D9D9D9"/>
            </a:solidFill>
            <a:prstDash val="solid"/>
          </a:ln>
        </p:spPr>
      </p:sp>
      <p:sp>
        <p:nvSpPr>
          <p:cNvPr id="9" name="Text 5"/>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400" b="1" dirty="0">
                <a:solidFill>
                  <a:srgbClr val="1F3A5F"/>
                </a:solidFill>
                <a:latin typeface="Calibri" pitchFamily="34" charset="0"/>
                <a:ea typeface="Calibri" pitchFamily="34" charset="-122"/>
                <a:cs typeface="Calibri" pitchFamily="34" charset="-120"/>
              </a:rPr>
              <a:t>Request: </a:t>
            </a:r>
            <a:pPr indent="0" marL="0">
              <a:buNone/>
            </a:pPr>
            <a:r>
              <a:rPr lang="en-US" sz="1400" dirty="0">
                <a:solidFill>
                  <a:srgbClr val="262626"/>
                </a:solidFill>
                <a:latin typeface="Calibri" pitchFamily="34" charset="0"/>
                <a:ea typeface="Calibri" pitchFamily="34" charset="-122"/>
                <a:cs typeface="Calibri" pitchFamily="34" charset="-120"/>
              </a:rPr>
              <a:t>approve a two-week city and channel diagnostic before funding a larger growth intervention.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The question and the decision it supports</a:t>
            </a:r>
            <a:endParaRPr lang="en-US" sz="2400" dirty="0"/>
          </a:p>
        </p:txBody>
      </p:sp>
      <p:sp>
        <p:nvSpPr>
          <p:cNvPr id="4" name="Text 1"/>
          <p:cNvSpPr txBox="1"/>
          <p:nvPr/>
        </p:nvSpPr>
        <p:spPr>
          <a:xfrm>
            <a:off x="457200" y="1280160"/>
            <a:ext cx="384048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Question</a:t>
            </a:r>
            <a:endParaRPr lang="en-US" sz="1400" dirty="0"/>
          </a:p>
        </p:txBody>
      </p:sp>
      <p:sp>
        <p:nvSpPr>
          <p:cNvPr id="5" name="Text 2"/>
          <p:cNvSpPr txBox="1"/>
          <p:nvPr/>
        </p:nvSpPr>
        <p:spPr>
          <a:xfrm>
            <a:off x="457200" y="1645920"/>
            <a:ext cx="3840480" cy="2011680"/>
          </a:xfrm>
          <a:prstGeom prst="rect">
            <a:avLst/>
          </a:prstGeom>
          <a:noFill/>
          <a:ln/>
        </p:spPr>
        <p:txBody>
          <a:bodyPr wrap="square" lIns="0" tIns="0" rIns="0" bIns="0" rtlCol="0" anchor="t"/>
          <a:lstStyle/>
          <a:p>
            <a:pPr indent="0" marL="0">
              <a:buNone/>
            </a:pPr>
            <a:r>
              <a:rPr lang="en-US" sz="1600" dirty="0">
                <a:solidFill>
                  <a:srgbClr val="262626"/>
                </a:solidFill>
                <a:latin typeface="Calibri" pitchFamily="34" charset="0"/>
                <a:ea typeface="Calibri" pitchFamily="34" charset="-122"/>
                <a:cs typeface="Calibri" pitchFamily="34" charset="-120"/>
              </a:rPr>
              <a:t>H1 2026 booked test volume is below the growth implied by the H1 plan. We need to size the gap, locate it by city and channel, and list the checks to run before committing resources.</a:t>
            </a:r>
            <a:endParaRPr lang="en-US" sz="1600" dirty="0"/>
          </a:p>
        </p:txBody>
      </p:sp>
      <p:sp>
        <p:nvSpPr>
          <p:cNvPr id="6" name="Shape 3"/>
          <p:cNvSpPr/>
          <p:nvPr/>
        </p:nvSpPr>
        <p:spPr>
          <a:xfrm>
            <a:off x="4572000" y="1280160"/>
            <a:ext cx="0" cy="2377440"/>
          </a:xfrm>
          <a:prstGeom prst="line">
            <a:avLst/>
          </a:prstGeom>
          <a:noFill/>
          <a:ln w="12700">
            <a:solidFill>
              <a:srgbClr val="D9D9D9"/>
            </a:solidFill>
            <a:prstDash val="solid"/>
          </a:ln>
        </p:spPr>
      </p:sp>
      <p:sp>
        <p:nvSpPr>
          <p:cNvPr id="7" name="Text 4"/>
          <p:cNvSpPr txBox="1"/>
          <p:nvPr/>
        </p:nvSpPr>
        <p:spPr>
          <a:xfrm>
            <a:off x="4846320" y="1280160"/>
            <a:ext cx="384048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Decision</a:t>
            </a:r>
            <a:endParaRPr lang="en-US" sz="1400" dirty="0"/>
          </a:p>
        </p:txBody>
      </p:sp>
      <p:sp>
        <p:nvSpPr>
          <p:cNvPr id="8" name="Text 5"/>
          <p:cNvSpPr txBox="1"/>
          <p:nvPr/>
        </p:nvSpPr>
        <p:spPr>
          <a:xfrm>
            <a:off x="4846320" y="1645920"/>
            <a:ext cx="3840480" cy="1097280"/>
          </a:xfrm>
          <a:prstGeom prst="rect">
            <a:avLst/>
          </a:prstGeom>
          <a:noFill/>
          <a:ln/>
        </p:spPr>
        <p:txBody>
          <a:bodyPr wrap="square" lIns="0" tIns="0" rIns="0" bIns="0" rtlCol="0" anchor="t"/>
          <a:lstStyle/>
          <a:p>
            <a:pPr indent="0" marL="0">
              <a:buNone/>
            </a:pPr>
            <a:r>
              <a:rPr lang="en-US" sz="2000" b="1" dirty="0">
                <a:solidFill>
                  <a:srgbClr val="1F3A5F"/>
                </a:solidFill>
                <a:latin typeface="Calibri" pitchFamily="34" charset="0"/>
                <a:ea typeface="Calibri" pitchFamily="34" charset="-122"/>
                <a:cs typeface="Calibri" pitchFamily="34" charset="-120"/>
              </a:rPr>
              <a:t>Which cities and channels should Operations investigate first?</a:t>
            </a:r>
            <a:endParaRPr lang="en-US" sz="2000" dirty="0"/>
          </a:p>
        </p:txBody>
      </p:sp>
      <p:sp>
        <p:nvSpPr>
          <p:cNvPr id="9" name="Text 6"/>
          <p:cNvSpPr txBox="1"/>
          <p:nvPr/>
        </p:nvSpPr>
        <p:spPr>
          <a:xfrm>
            <a:off x="4846320" y="2926080"/>
            <a:ext cx="3840480" cy="731520"/>
          </a:xfrm>
          <a:prstGeom prst="rect">
            <a:avLst/>
          </a:prstGeom>
          <a:noFill/>
          <a:ln/>
        </p:spPr>
        <p:txBody>
          <a:bodyPr wrap="square" lIns="0" tIns="0" rIns="0" bIns="0" rtlCol="0" anchor="t"/>
          <a:lstStyle/>
          <a:p>
            <a:pPr indent="0" marL="0">
              <a:buNone/>
            </a:pPr>
            <a:r>
              <a:rPr lang="en-US" sz="1300" dirty="0">
                <a:solidFill>
                  <a:srgbClr val="595959"/>
                </a:solidFill>
                <a:latin typeface="Calibri" pitchFamily="34" charset="0"/>
                <a:ea typeface="Calibri" pitchFamily="34" charset="-122"/>
                <a:cs typeface="Calibri" pitchFamily="34" charset="-120"/>
              </a:rPr>
              <a:t>Volume is measured as booked test lines: one row for each test in a booking.</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Volume is 54,110 tests below plan</a:t>
            </a:r>
            <a:endParaRPr lang="en-US" sz="2400" dirty="0"/>
          </a:p>
        </p:txBody>
      </p:sp>
      <p:graphicFrame>
        <p:nvGraphicFramePr>
          <p:cNvPr id="4" name="Chart 0" descr=""/>
          <p:cNvGraphicFramePr/>
          <p:nvPr/>
        </p:nvGraphicFramePr>
        <p:xfrm>
          <a:off x="365760" y="1188720"/>
          <a:ext cx="5303520" cy="32461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035040" y="1280160"/>
            <a:ext cx="2651760" cy="274320"/>
          </a:xfrm>
          <a:prstGeom prst="rect">
            <a:avLst/>
          </a:prstGeom>
          <a:noFill/>
          <a:ln/>
        </p:spPr>
        <p:txBody>
          <a:bodyPr wrap="square" lIns="0" tIns="0" rIns="0" bIns="0" rtlCol="0" anchor="t"/>
          <a:lstStyle/>
          <a:p>
            <a:pPr indent="0" marL="0">
              <a:buNone/>
            </a:pPr>
            <a:r>
              <a:rPr lang="en-US" sz="1300" b="1" dirty="0">
                <a:solidFill>
                  <a:srgbClr val="1F3A5F"/>
                </a:solidFill>
                <a:latin typeface="Calibri" pitchFamily="34" charset="0"/>
                <a:ea typeface="Calibri" pitchFamily="34" charset="-122"/>
                <a:cs typeface="Calibri" pitchFamily="34" charset="-120"/>
              </a:rPr>
              <a:t>How the growth rates are calculated</a:t>
            </a:r>
            <a:endParaRPr lang="en-US" sz="1300" dirty="0"/>
          </a:p>
        </p:txBody>
      </p:sp>
      <p:sp>
        <p:nvSpPr>
          <p:cNvPr id="6" name="Text 2"/>
          <p:cNvSpPr txBox="1"/>
          <p:nvPr/>
        </p:nvSpPr>
        <p:spPr>
          <a:xfrm>
            <a:off x="6035040" y="1645920"/>
            <a:ext cx="2651760" cy="1828800"/>
          </a:xfrm>
          <a:prstGeom prst="rect">
            <a:avLst/>
          </a:prstGeom>
          <a:noFill/>
          <a:ln/>
        </p:spPr>
        <p:txBody>
          <a:bodyPr wrap="square" lIns="0" tIns="0" rIns="0" bIns="0" rtlCol="0" anchor="t"/>
          <a:lstStyle/>
          <a:p>
            <a:pPr indent="0" marL="0">
              <a:spcAft>
                <a:spcPts val="800"/>
              </a:spcAft>
              <a:buNone/>
            </a:pPr>
            <a:r>
              <a:rPr lang="en-US" sz="1200" dirty="0">
                <a:solidFill>
                  <a:srgbClr val="262626"/>
                </a:solidFill>
                <a:latin typeface="Calibri" pitchFamily="34" charset="0"/>
                <a:ea typeface="Calibri" pitchFamily="34" charset="-122"/>
                <a:cs typeface="Calibri" pitchFamily="34" charset="-120"/>
              </a:rPr>
              <a:t>Actual: 461,630 / 436,302 - 1 = 5.81%</a:t>
            </a:r>
            <a:endParaRPr lang="en-US" sz="1200" dirty="0"/>
          </a:p>
          <a:p>
            <a:pPr indent="0" marL="0">
              <a:spcAft>
                <a:spcPts val="800"/>
              </a:spcAft>
              <a:buNone/>
            </a:pPr>
            <a:r>
              <a:rPr lang="en-US" sz="1200" dirty="0">
                <a:solidFill>
                  <a:srgbClr val="262626"/>
                </a:solidFill>
                <a:latin typeface="Calibri" pitchFamily="34" charset="0"/>
                <a:ea typeface="Calibri" pitchFamily="34" charset="-122"/>
                <a:cs typeface="Calibri" pitchFamily="34" charset="-120"/>
              </a:rPr>
              <a:t>Plan: 515,740 / 436,302 - 1 = 18.21%</a:t>
            </a:r>
            <a:endParaRPr lang="en-US" sz="1200" dirty="0"/>
          </a:p>
          <a:p>
            <a:pPr indent="0" marL="0">
              <a:spcAft>
                <a:spcPts val="800"/>
              </a:spcAft>
              <a:buNone/>
            </a:pPr>
            <a:r>
              <a:rPr lang="en-US" sz="1200" dirty="0">
                <a:solidFill>
                  <a:srgbClr val="262626"/>
                </a:solidFill>
                <a:latin typeface="Calibri" pitchFamily="34" charset="0"/>
                <a:ea typeface="Calibri" pitchFamily="34" charset="-122"/>
                <a:cs typeface="Calibri" pitchFamily="34" charset="-120"/>
              </a:rPr>
              <a:t>Growth gap: 18.21% - 5.81% = 12.40 pp</a:t>
            </a:r>
            <a:endParaRPr lang="en-US" sz="1200" dirty="0"/>
          </a:p>
          <a:p>
            <a:pPr indent="0" marL="0">
              <a:spcAft>
                <a:spcPts val="800"/>
              </a:spcAft>
              <a:buNone/>
            </a:pPr>
            <a:r>
              <a:rPr lang="en-US" sz="1200" b="1" dirty="0">
                <a:solidFill>
                  <a:srgbClr val="C00000"/>
                </a:solidFill>
                <a:latin typeface="Calibri" pitchFamily="34" charset="0"/>
                <a:ea typeface="Calibri" pitchFamily="34" charset="-122"/>
                <a:cs typeface="Calibri" pitchFamily="34" charset="-120"/>
              </a:rPr>
              <a:t>Volume gap: 515,740 - 461,630 = 54,110</a:t>
            </a:r>
            <a:endParaRPr lang="en-US" sz="1200" dirty="0"/>
          </a:p>
        </p:txBody>
      </p:sp>
      <p:sp>
        <p:nvSpPr>
          <p:cNvPr id="7" name="Text 3"/>
          <p:cNvSpPr txBox="1"/>
          <p:nvPr/>
        </p:nvSpPr>
        <p:spPr>
          <a:xfrm>
            <a:off x="457200" y="4498848"/>
            <a:ext cx="7772400" cy="228600"/>
          </a:xfrm>
          <a:prstGeom prst="rect">
            <a:avLst/>
          </a:prstGeom>
          <a:noFill/>
          <a:ln/>
        </p:spPr>
        <p:txBody>
          <a:bodyPr wrap="square" lIns="0" tIns="0" rIns="0" bIns="0" rtlCol="0" anchor="ctr"/>
          <a:lstStyle/>
          <a:p>
            <a:pPr indent="0" marL="0">
              <a:buNone/>
            </a:pPr>
            <a:r>
              <a:rPr lang="en-US" sz="900" i="1" dirty="0">
                <a:solidFill>
                  <a:srgbClr val="7F7F7F"/>
                </a:solidFill>
                <a:latin typeface="Calibri" pitchFamily="34" charset="0"/>
                <a:ea typeface="Calibri" pitchFamily="34" charset="-122"/>
                <a:cs typeface="Calibri" pitchFamily="34" charset="-120"/>
              </a:rPr>
              <a:t>Source: booking test lines (bookings, booking_tests); H1 plan from plan_2026_H1.csv.</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All six cities are below plan; Jaipur is furthest behind</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94560"/>
                <a:gridCol w="1554480"/>
                <a:gridCol w="1554480"/>
                <a:gridCol w="1554480"/>
                <a:gridCol w="1371600"/>
              </a:tblGrid>
              <a:tr h="365760">
                <a:tc>
                  <a:txBody>
                    <a:bodyPr/>
                    <a:lstStyle/>
                    <a:p>
                      <a:pPr algn="l" indent="0" marL="0">
                        <a:buNone/>
                      </a:pPr>
                      <a:r>
                        <a:rPr lang="en-US" sz="1400" b="1" dirty="0">
                          <a:solidFill>
                            <a:srgbClr val="1F3A5F"/>
                          </a:solidFill>
                          <a:latin typeface="Calibri" pitchFamily="34" charset="0"/>
                          <a:ea typeface="Calibri" pitchFamily="34" charset="-122"/>
                          <a:cs typeface="Calibri" pitchFamily="34" charset="-120"/>
                        </a:rPr>
                        <a:t>City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H1 2026 actual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H1 2026 plan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Gap (tests)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 of plan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Bangalore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107,661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120,085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12,424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89.7%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Jaipur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41,490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52,372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10,882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C00000"/>
                          </a:solidFill>
                          <a:latin typeface="Calibri" pitchFamily="34" charset="0"/>
                          <a:ea typeface="Calibri" pitchFamily="34" charset="-122"/>
                          <a:cs typeface="Calibri" pitchFamily="34" charset="-120"/>
                        </a:rPr>
                        <a:t>79.2%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Chennai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83,146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93,912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10,766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88.5%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Hyderabad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78,674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86,421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7,747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91.0%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Pune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65,575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72,177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6,602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90.9%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Ahmedabad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85,084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90,773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5,689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93.7%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b="1" dirty="0">
                          <a:solidFill>
                            <a:srgbClr val="262626"/>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461,630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515,740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54,110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262626"/>
                          </a:solidFill>
                          <a:latin typeface="Calibri" pitchFamily="34" charset="0"/>
                          <a:ea typeface="Calibri" pitchFamily="34" charset="-122"/>
                          <a:cs typeface="Calibri" pitchFamily="34" charset="-120"/>
                        </a:rPr>
                        <a:t>89.5%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5" name="Text 1"/>
          <p:cNvSpPr txBox="1"/>
          <p:nvPr/>
        </p:nvSpPr>
        <p:spPr>
          <a:xfrm>
            <a:off x="457200" y="4498848"/>
            <a:ext cx="7772400" cy="228600"/>
          </a:xfrm>
          <a:prstGeom prst="rect">
            <a:avLst/>
          </a:prstGeom>
          <a:noFill/>
          <a:ln/>
        </p:spPr>
        <p:txBody>
          <a:bodyPr wrap="square" lIns="0" tIns="0" rIns="0" bIns="0" rtlCol="0" anchor="ctr"/>
          <a:lstStyle/>
          <a:p>
            <a:pPr indent="0" marL="0">
              <a:buNone/>
            </a:pPr>
            <a:r>
              <a:rPr lang="en-US" sz="900" i="1" dirty="0">
                <a:solidFill>
                  <a:srgbClr val="7F7F7F"/>
                </a:solidFill>
                <a:latin typeface="Calibri" pitchFamily="34" charset="0"/>
                <a:ea typeface="Calibri" pitchFamily="34" charset="-122"/>
                <a:cs typeface="Calibri" pitchFamily="34" charset="-120"/>
              </a:rPr>
              <a:t>Source: booking test lines (bookings, booking_tests); H1 plan from plan_2026_H1.csv. Sorted by gap.</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Three cities account for 63% of the shortfall</a:t>
            </a:r>
            <a:endParaRPr lang="en-US" sz="2400" dirty="0"/>
          </a:p>
        </p:txBody>
      </p:sp>
      <p:graphicFrame>
        <p:nvGraphicFramePr>
          <p:cNvPr id="4" name="Chart 0" descr=""/>
          <p:cNvGraphicFramePr/>
          <p:nvPr/>
        </p:nvGraphicFramePr>
        <p:xfrm>
          <a:off x="365760" y="118872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280160"/>
            <a:ext cx="2560320" cy="640080"/>
          </a:xfrm>
          <a:prstGeom prst="rect">
            <a:avLst/>
          </a:prstGeom>
          <a:noFill/>
          <a:ln/>
        </p:spPr>
        <p:txBody>
          <a:bodyPr wrap="square" lIns="0" tIns="0" rIns="0" bIns="0" rtlCol="0" anchor="t"/>
          <a:lstStyle/>
          <a:p>
            <a:pPr indent="0" marL="0">
              <a:buNone/>
            </a:pPr>
            <a:r>
              <a:rPr lang="en-US" sz="4000" b="1" dirty="0">
                <a:solidFill>
                  <a:srgbClr val="1F3A5F"/>
                </a:solidFill>
                <a:latin typeface="Calibri" pitchFamily="34" charset="0"/>
                <a:ea typeface="Calibri" pitchFamily="34" charset="-122"/>
                <a:cs typeface="Calibri" pitchFamily="34" charset="-120"/>
              </a:rPr>
              <a:t>34,072</a:t>
            </a:r>
            <a:endParaRPr lang="en-US" sz="4000" dirty="0"/>
          </a:p>
        </p:txBody>
      </p:sp>
      <p:sp>
        <p:nvSpPr>
          <p:cNvPr id="6" name="Text 2"/>
          <p:cNvSpPr txBox="1"/>
          <p:nvPr/>
        </p:nvSpPr>
        <p:spPr>
          <a:xfrm>
            <a:off x="6126480" y="1965960"/>
            <a:ext cx="2560320" cy="914400"/>
          </a:xfrm>
          <a:prstGeom prst="rect">
            <a:avLst/>
          </a:prstGeom>
          <a:noFill/>
          <a:ln/>
        </p:spPr>
        <p:txBody>
          <a:bodyPr wrap="square" lIns="0" tIns="0" rIns="0" bIns="0" rtlCol="0" anchor="t"/>
          <a:lstStyle/>
          <a:p>
            <a:pPr indent="0" marL="0">
              <a:buNone/>
            </a:pPr>
            <a:r>
              <a:rPr lang="en-US" sz="1300" dirty="0">
                <a:solidFill>
                  <a:srgbClr val="595959"/>
                </a:solidFill>
                <a:latin typeface="Calibri" pitchFamily="34" charset="0"/>
                <a:ea typeface="Calibri" pitchFamily="34" charset="-122"/>
                <a:cs typeface="Calibri" pitchFamily="34" charset="-120"/>
              </a:rPr>
              <a:t>tests below plan in Bangalore, Jaipur and Chennai combined (63% of the 54,110 gap)</a:t>
            </a:r>
            <a:endParaRPr lang="en-US" sz="1300" dirty="0"/>
          </a:p>
        </p:txBody>
      </p:sp>
      <p:sp>
        <p:nvSpPr>
          <p:cNvPr id="7" name="Text 3"/>
          <p:cNvSpPr txBox="1"/>
          <p:nvPr/>
        </p:nvSpPr>
        <p:spPr>
          <a:xfrm>
            <a:off x="6126480" y="3017520"/>
            <a:ext cx="2560320" cy="1371600"/>
          </a:xfrm>
          <a:prstGeom prst="rect">
            <a:avLst/>
          </a:prstGeom>
          <a:noFill/>
          <a:ln/>
        </p:spPr>
        <p:txBody>
          <a:bodyPr wrap="square" lIns="0" tIns="0" rIns="0" bIns="0" rtlCol="0" anchor="t"/>
          <a:lstStyle/>
          <a:p>
            <a:pPr indent="0" marL="0">
              <a:spcAft>
                <a:spcPts val="300"/>
              </a:spcAft>
              <a:buNone/>
            </a:pPr>
            <a:r>
              <a:rPr lang="en-US" sz="1200" b="1" dirty="0">
                <a:solidFill>
                  <a:srgbClr val="1F3A5F"/>
                </a:solidFill>
                <a:latin typeface="Calibri" pitchFamily="34" charset="0"/>
                <a:ea typeface="Calibri" pitchFamily="34" charset="-122"/>
                <a:cs typeface="Calibri" pitchFamily="34" charset="-120"/>
              </a:rPr>
              <a:t>Share of total gap</a:t>
            </a:r>
            <a:endParaRPr lang="en-US" sz="1200" dirty="0"/>
          </a:p>
          <a:p>
            <a:pPr indent="0" marL="0">
              <a:spcAft>
                <a:spcPts val="300"/>
              </a:spcAft>
              <a:buNone/>
            </a:pPr>
            <a:r>
              <a:rPr lang="en-US" sz="1200" dirty="0">
                <a:solidFill>
                  <a:srgbClr val="262626"/>
                </a:solidFill>
                <a:latin typeface="Calibri" pitchFamily="34" charset="0"/>
                <a:ea typeface="Calibri" pitchFamily="34" charset="-122"/>
                <a:cs typeface="Calibri" pitchFamily="34" charset="-120"/>
              </a:rPr>
              <a:t>Bangalore 23.0%</a:t>
            </a:r>
            <a:endParaRPr lang="en-US" sz="1200" dirty="0"/>
          </a:p>
          <a:p>
            <a:pPr indent="0" marL="0">
              <a:spcAft>
                <a:spcPts val="300"/>
              </a:spcAft>
              <a:buNone/>
            </a:pPr>
            <a:r>
              <a:rPr lang="en-US" sz="1200" dirty="0">
                <a:solidFill>
                  <a:srgbClr val="262626"/>
                </a:solidFill>
                <a:latin typeface="Calibri" pitchFamily="34" charset="0"/>
                <a:ea typeface="Calibri" pitchFamily="34" charset="-122"/>
                <a:cs typeface="Calibri" pitchFamily="34" charset="-120"/>
              </a:rPr>
              <a:t>Jaipur 20.1%</a:t>
            </a:r>
            <a:endParaRPr lang="en-US" sz="1200" dirty="0"/>
          </a:p>
          <a:p>
            <a:pPr indent="0" marL="0">
              <a:spcAft>
                <a:spcPts val="300"/>
              </a:spcAft>
              <a:buNone/>
            </a:pPr>
            <a:r>
              <a:rPr lang="en-US" sz="1200" dirty="0">
                <a:solidFill>
                  <a:srgbClr val="262626"/>
                </a:solidFill>
                <a:latin typeface="Calibri" pitchFamily="34" charset="0"/>
                <a:ea typeface="Calibri" pitchFamily="34" charset="-122"/>
                <a:cs typeface="Calibri" pitchFamily="34" charset="-120"/>
              </a:rPr>
              <a:t>Chennai 19.9%</a:t>
            </a:r>
            <a:endParaRPr lang="en-US" sz="1200" dirty="0"/>
          </a:p>
          <a:p>
            <a:pPr indent="0" marL="0">
              <a:spcAft>
                <a:spcPts val="300"/>
              </a:spcAft>
              <a:buNone/>
            </a:pPr>
            <a:r>
              <a:rPr lang="en-US" sz="1200" dirty="0">
                <a:solidFill>
                  <a:srgbClr val="262626"/>
                </a:solidFill>
                <a:latin typeface="Calibri" pitchFamily="34" charset="0"/>
                <a:ea typeface="Calibri" pitchFamily="34" charset="-122"/>
                <a:cs typeface="Calibri" pitchFamily="34" charset="-120"/>
              </a:rPr>
              <a:t>Other three cities 37.0%</a:t>
            </a:r>
            <a:endParaRPr lang="en-US" sz="1200" dirty="0"/>
          </a:p>
        </p:txBody>
      </p:sp>
      <p:sp>
        <p:nvSpPr>
          <p:cNvPr id="8" name="Text 4"/>
          <p:cNvSpPr txBox="1"/>
          <p:nvPr/>
        </p:nvSpPr>
        <p:spPr>
          <a:xfrm>
            <a:off x="457200" y="4498848"/>
            <a:ext cx="7772400" cy="228600"/>
          </a:xfrm>
          <a:prstGeom prst="rect">
            <a:avLst/>
          </a:prstGeom>
          <a:noFill/>
          <a:ln/>
        </p:spPr>
        <p:txBody>
          <a:bodyPr wrap="square" lIns="0" tIns="0" rIns="0" bIns="0" rtlCol="0" anchor="ctr"/>
          <a:lstStyle/>
          <a:p>
            <a:pPr indent="0" marL="0">
              <a:buNone/>
            </a:pPr>
            <a:r>
              <a:rPr lang="en-US" sz="900" i="1" dirty="0">
                <a:solidFill>
                  <a:srgbClr val="7F7F7F"/>
                </a:solidFill>
                <a:latin typeface="Calibri" pitchFamily="34" charset="0"/>
                <a:ea typeface="Calibri" pitchFamily="34" charset="-122"/>
                <a:cs typeface="Calibri" pitchFamily="34" charset="-120"/>
              </a:rPr>
              <a:t>Source: booking test lines (bookings, booking_tests); H1 plan from plan_2026_H1.csv.</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Home tests grew 38.4% while Clinic tests fell 11.1%</a:t>
            </a:r>
            <a:endParaRPr lang="en-US" sz="2400" dirty="0"/>
          </a:p>
        </p:txBody>
      </p:sp>
      <p:graphicFrame>
        <p:nvGraphicFramePr>
          <p:cNvPr id="4" name="Chart 0" descr=""/>
          <p:cNvGraphicFramePr/>
          <p:nvPr/>
        </p:nvGraphicFramePr>
        <p:xfrm>
          <a:off x="365760" y="1188720"/>
          <a:ext cx="512064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52160" y="1371600"/>
          <a:ext cx="2834640" cy="914400"/>
        </p:xfrm>
        <a:graphic>
          <a:graphicData uri="http://schemas.openxmlformats.org/drawingml/2006/table">
            <a:tbl>
              <a:tblPr/>
              <a:tblGrid>
                <a:gridCol w="914400"/>
                <a:gridCol w="1005840"/>
                <a:gridCol w="914400"/>
              </a:tblGrid>
              <a:tr h="365760">
                <a:tc>
                  <a:txBody>
                    <a:bodyPr/>
                    <a:lstStyle/>
                    <a:p>
                      <a:pPr algn="l" indent="0" marL="0">
                        <a:buNone/>
                      </a:pPr>
                      <a:r>
                        <a:rPr lang="en-US" sz="1300" b="1" dirty="0">
                          <a:solidFill>
                            <a:srgbClr val="1F3A5F"/>
                          </a:solidFill>
                          <a:latin typeface="Calibri" pitchFamily="34" charset="0"/>
                          <a:ea typeface="Calibri" pitchFamily="34" charset="-122"/>
                          <a:cs typeface="Calibri" pitchFamily="34" charset="-120"/>
                        </a:rPr>
                        <a:t>Channel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300" b="1" dirty="0">
                          <a:solidFill>
                            <a:srgbClr val="1F3A5F"/>
                          </a:solidFill>
                          <a:latin typeface="Calibri" pitchFamily="34" charset="0"/>
                          <a:ea typeface="Calibri" pitchFamily="34" charset="-122"/>
                          <a:cs typeface="Calibri" pitchFamily="34" charset="-120"/>
                        </a:rPr>
                        <a:t>Change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300" b="1" dirty="0">
                          <a:solidFill>
                            <a:srgbClr val="1F3A5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Home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+57,213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b="1" dirty="0">
                          <a:solidFill>
                            <a:srgbClr val="262626"/>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Clinic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C00000"/>
                          </a:solidFill>
                          <a:latin typeface="Calibri" pitchFamily="34" charset="0"/>
                          <a:ea typeface="Calibri" pitchFamily="34" charset="-122"/>
                          <a:cs typeface="Calibri" pitchFamily="34" charset="-120"/>
                        </a:rPr>
                        <a:t>-31,885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b="1" dirty="0">
                          <a:solidFill>
                            <a:srgbClr val="C00000"/>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b="1" dirty="0">
                          <a:solidFill>
                            <a:srgbClr val="262626"/>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b="1" dirty="0">
                          <a:solidFill>
                            <a:srgbClr val="262626"/>
                          </a:solidFill>
                          <a:latin typeface="Calibri" pitchFamily="34" charset="0"/>
                          <a:ea typeface="Calibri" pitchFamily="34" charset="-122"/>
                          <a:cs typeface="Calibri" pitchFamily="34" charset="-120"/>
                        </a:rPr>
                        <a:t>+25,328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b="1" dirty="0">
                          <a:solidFill>
                            <a:srgbClr val="262626"/>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6" name="Text 1"/>
          <p:cNvSpPr txBox="1"/>
          <p:nvPr/>
        </p:nvSpPr>
        <p:spPr>
          <a:xfrm>
            <a:off x="5852160" y="3108960"/>
            <a:ext cx="2834640" cy="822960"/>
          </a:xfrm>
          <a:prstGeom prst="rect">
            <a:avLst/>
          </a:prstGeom>
          <a:noFill/>
          <a:ln/>
        </p:spPr>
        <p:txBody>
          <a:bodyPr wrap="square" lIns="0" tIns="0" rIns="0" bIns="0" rtlCol="0" anchor="t"/>
          <a:lstStyle/>
          <a:p>
            <a:pPr indent="0" marL="0">
              <a:buNone/>
            </a:pPr>
            <a:r>
              <a:rPr lang="en-US" sz="1300" dirty="0">
                <a:solidFill>
                  <a:srgbClr val="595959"/>
                </a:solidFill>
                <a:latin typeface="Calibri" pitchFamily="34" charset="0"/>
                <a:ea typeface="Calibri" pitchFamily="34" charset="-122"/>
                <a:cs typeface="Calibri" pitchFamily="34" charset="-120"/>
              </a:rPr>
              <a:t>Clinic is still the larger channel, so its decline is what holds back total growth.</a:t>
            </a:r>
            <a:endParaRPr lang="en-US" sz="1300" dirty="0"/>
          </a:p>
        </p:txBody>
      </p:sp>
      <p:sp>
        <p:nvSpPr>
          <p:cNvPr id="7" name="Text 2"/>
          <p:cNvSpPr txBox="1"/>
          <p:nvPr/>
        </p:nvSpPr>
        <p:spPr>
          <a:xfrm>
            <a:off x="457200" y="4498848"/>
            <a:ext cx="7772400" cy="228600"/>
          </a:xfrm>
          <a:prstGeom prst="rect">
            <a:avLst/>
          </a:prstGeom>
          <a:noFill/>
          <a:ln/>
        </p:spPr>
        <p:txBody>
          <a:bodyPr wrap="square" lIns="0" tIns="0" rIns="0" bIns="0" rtlCol="0" anchor="ctr"/>
          <a:lstStyle/>
          <a:p>
            <a:pPr indent="0" marL="0">
              <a:buNone/>
            </a:pPr>
            <a:r>
              <a:rPr lang="en-US" sz="900" i="1" dirty="0">
                <a:solidFill>
                  <a:srgbClr val="7F7F7F"/>
                </a:solidFill>
                <a:latin typeface="Calibri" pitchFamily="34" charset="0"/>
                <a:ea typeface="Calibri" pitchFamily="34" charset="-122"/>
                <a:cs typeface="Calibri" pitchFamily="34" charset="-120"/>
              </a:rPr>
              <a:t>Source: booking test lines (bookings, booking_tests); H1 plan from plan_2026_H1.csv.</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Confidence in the result and what could change it</a:t>
            </a:r>
            <a:endParaRPr lang="en-US" sz="2400" dirty="0"/>
          </a:p>
        </p:txBody>
      </p:sp>
      <p:sp>
        <p:nvSpPr>
          <p:cNvPr id="4" name="Text 1"/>
          <p:cNvSpPr txBox="1"/>
          <p:nvPr/>
        </p:nvSpPr>
        <p:spPr>
          <a:xfrm>
            <a:off x="457200" y="1280160"/>
            <a:ext cx="256032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Checks passed</a:t>
            </a:r>
            <a:endParaRPr lang="en-US" sz="1400" dirty="0"/>
          </a:p>
        </p:txBody>
      </p:sp>
      <p:sp>
        <p:nvSpPr>
          <p:cNvPr id="5" name="Text 2"/>
          <p:cNvSpPr txBox="1"/>
          <p:nvPr/>
        </p:nvSpPr>
        <p:spPr>
          <a:xfrm>
            <a:off x="457200" y="1645920"/>
            <a:ext cx="2560320"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0 booking IDs with conflicting city, channel or source</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0 test rows without a booking channel</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City gaps add up to 54,110</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Channel totals match in both years</a:t>
            </a:r>
            <a:endParaRPr lang="en-US" sz="1300" dirty="0"/>
          </a:p>
        </p:txBody>
      </p:sp>
      <p:sp>
        <p:nvSpPr>
          <p:cNvPr id="6" name="Text 3"/>
          <p:cNvSpPr txBox="1"/>
          <p:nvPr/>
        </p:nvSpPr>
        <p:spPr>
          <a:xfrm>
            <a:off x="3291840" y="1280160"/>
            <a:ext cx="256032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What could change the result</a:t>
            </a:r>
            <a:endParaRPr lang="en-US" sz="1400" dirty="0"/>
          </a:p>
        </p:txBody>
      </p:sp>
      <p:sp>
        <p:nvSpPr>
          <p:cNvPr id="7" name="Text 4"/>
          <p:cNvSpPr txBox="1"/>
          <p:nvPr/>
        </p:nvSpPr>
        <p:spPr>
          <a:xfrm>
            <a:off x="3291840" y="1645920"/>
            <a:ext cx="2560320"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The plan is for test volume; we count booked test rows</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If volume means completed lab results, rerun on results</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Confirm the plan definition with Finance</a:t>
            </a:r>
            <a:endParaRPr lang="en-US" sz="1300" dirty="0"/>
          </a:p>
        </p:txBody>
      </p:sp>
      <p:sp>
        <p:nvSpPr>
          <p:cNvPr id="8" name="Text 5"/>
          <p:cNvSpPr txBox="1"/>
          <p:nvPr/>
        </p:nvSpPr>
        <p:spPr>
          <a:xfrm>
            <a:off x="6126480" y="1280160"/>
            <a:ext cx="256032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Approach not used</a:t>
            </a:r>
            <a:endParaRPr lang="en-US" sz="1400" dirty="0"/>
          </a:p>
        </p:txBody>
      </p:sp>
      <p:sp>
        <p:nvSpPr>
          <p:cNvPr id="9" name="Text 6"/>
          <p:cNvSpPr txBox="1"/>
          <p:nvPr/>
        </p:nvSpPr>
        <p:spPr>
          <a:xfrm>
            <a:off x="6126480" y="1645920"/>
            <a:ext cx="2560320"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Do not deduplicate test rows by booking ID</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One booking can hold several tests</a:t>
            </a:r>
            <a:endParaRPr lang="en-US" sz="1300" dirty="0"/>
          </a:p>
          <a:p>
            <a:pPr marL="342900" indent="-342900">
              <a:spcAft>
                <a:spcPts val="800"/>
              </a:spcAft>
              <a:buSzPct val="100000"/>
              <a:buChar char="•"/>
            </a:pPr>
            <a:r>
              <a:rPr lang="en-US" sz="1300" dirty="0">
                <a:solidFill>
                  <a:srgbClr val="262626"/>
                </a:solidFill>
                <a:latin typeface="Calibri" pitchFamily="34" charset="0"/>
                <a:ea typeface="Calibri" pitchFamily="34" charset="-122"/>
                <a:cs typeface="Calibri" pitchFamily="34" charset="-120"/>
              </a:rPr>
              <a:t>Only exact repeated booking records are removed when counting bookings</a:t>
            </a:r>
            <a:endParaRPr lang="en-US" sz="1300" dirty="0"/>
          </a:p>
        </p:txBody>
      </p:sp>
      <p:sp>
        <p:nvSpPr>
          <p:cNvPr id="10" name="Shape 7"/>
          <p:cNvSpPr/>
          <p:nvPr/>
        </p:nvSpPr>
        <p:spPr>
          <a:xfrm>
            <a:off x="3108960" y="1280160"/>
            <a:ext cx="0" cy="2926080"/>
          </a:xfrm>
          <a:prstGeom prst="line">
            <a:avLst/>
          </a:prstGeom>
          <a:noFill/>
          <a:ln w="12700">
            <a:solidFill>
              <a:srgbClr val="D9D9D9"/>
            </a:solidFill>
            <a:prstDash val="solid"/>
          </a:ln>
        </p:spPr>
      </p:sp>
      <p:sp>
        <p:nvSpPr>
          <p:cNvPr id="11" name="Shape 8"/>
          <p:cNvSpPr/>
          <p:nvPr/>
        </p:nvSpPr>
        <p:spPr>
          <a:xfrm>
            <a:off x="5943600" y="1280160"/>
            <a:ext cx="0" cy="2926080"/>
          </a:xfrm>
          <a:prstGeom prst="line">
            <a:avLst/>
          </a:prstGeom>
          <a:noFill/>
          <a:ln w="12700">
            <a:solidFill>
              <a:srgbClr val="D9D9D9"/>
            </a:solidFill>
            <a:prstDash val="solid"/>
          </a:ln>
        </p:spPr>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Recommendation: a two-week city and channel diagnostic</a:t>
            </a:r>
            <a:endParaRPr lang="en-US" sz="2400" dirty="0"/>
          </a:p>
        </p:txBody>
      </p:sp>
      <p:sp>
        <p:nvSpPr>
          <p:cNvPr id="4" name="Text 1"/>
          <p:cNvSpPr txBox="1"/>
          <p:nvPr/>
        </p:nvSpPr>
        <p:spPr>
          <a:xfrm>
            <a:off x="457200" y="1280160"/>
            <a:ext cx="393192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Start with the largest gaps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3931920" cy="914400"/>
        </p:xfrm>
        <a:graphic>
          <a:graphicData uri="http://schemas.openxmlformats.org/drawingml/2006/table">
            <a:tbl>
              <a:tblPr/>
              <a:tblGrid>
                <a:gridCol w="822960"/>
                <a:gridCol w="1463040"/>
                <a:gridCol w="1645920"/>
              </a:tblGrid>
              <a:tr h="365760">
                <a:tc>
                  <a:txBody>
                    <a:bodyPr/>
                    <a:lstStyle/>
                    <a:p>
                      <a:pPr algn="l" indent="0" marL="0">
                        <a:buNone/>
                      </a:pPr>
                      <a:r>
                        <a:rPr lang="en-US" sz="1400" b="1" dirty="0">
                          <a:solidFill>
                            <a:srgbClr val="1F3A5F"/>
                          </a:solidFill>
                          <a:latin typeface="Calibri" pitchFamily="34" charset="0"/>
                          <a:ea typeface="Calibri" pitchFamily="34" charset="-122"/>
                          <a:cs typeface="Calibri" pitchFamily="34" charset="-120"/>
                        </a:rPr>
                        <a:t>Priority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l" indent="0" marL="0">
                        <a:buNone/>
                      </a:pPr>
                      <a:r>
                        <a:rPr lang="en-US" sz="1400" b="1" dirty="0">
                          <a:solidFill>
                            <a:srgbClr val="1F3A5F"/>
                          </a:solidFill>
                          <a:latin typeface="Calibri" pitchFamily="34" charset="0"/>
                          <a:ea typeface="Calibri" pitchFamily="34" charset="-122"/>
                          <a:cs typeface="Calibri" pitchFamily="34" charset="-120"/>
                        </a:rPr>
                        <a:t>City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400" b="1" dirty="0">
                          <a:solidFill>
                            <a:srgbClr val="1F3A5F"/>
                          </a:solidFill>
                          <a:latin typeface="Calibri" pitchFamily="34" charset="0"/>
                          <a:ea typeface="Calibri" pitchFamily="34" charset="-122"/>
                          <a:cs typeface="Calibri" pitchFamily="34" charset="-120"/>
                        </a:rPr>
                        <a:t>Tests below plan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Bangalore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12,424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Jaipur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10,882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Chennai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262626"/>
                          </a:solidFill>
                          <a:latin typeface="Calibri" pitchFamily="34" charset="0"/>
                          <a:ea typeface="Calibri" pitchFamily="34" charset="-122"/>
                          <a:cs typeface="Calibri" pitchFamily="34" charset="-120"/>
                        </a:rPr>
                        <a:t>10,766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6" name="Text 2"/>
          <p:cNvSpPr txBox="1"/>
          <p:nvPr/>
        </p:nvSpPr>
        <p:spPr>
          <a:xfrm>
            <a:off x="457200" y="3291840"/>
            <a:ext cx="3931920" cy="914400"/>
          </a:xfrm>
          <a:prstGeom prst="rect">
            <a:avLst/>
          </a:prstGeom>
          <a:noFill/>
          <a:ln/>
        </p:spPr>
        <p:txBody>
          <a:bodyPr wrap="square" lIns="0" tIns="0" rIns="0" bIns="0" rtlCol="0" anchor="t"/>
          <a:lstStyle/>
          <a:p>
            <a:pPr indent="0" marL="0">
              <a:buNone/>
            </a:pPr>
            <a:r>
              <a:rPr lang="en-US" sz="1200" dirty="0">
                <a:solidFill>
                  <a:srgbClr val="595959"/>
                </a:solidFill>
                <a:latin typeface="Calibri" pitchFamily="34" charset="0"/>
                <a:ea typeface="Calibri" pitchFamily="34" charset="-122"/>
                <a:cs typeface="Calibri" pitchFamily="34" charset="-120"/>
              </a:rPr>
              <a:t>Cost and risk: uses existing analytics and operations time. The data has no cost estimate. Avoid broad discounts or capacity spend until the driver is confirmed.</a:t>
            </a:r>
            <a:endParaRPr lang="en-US" sz="1200" dirty="0"/>
          </a:p>
        </p:txBody>
      </p:sp>
      <p:sp>
        <p:nvSpPr>
          <p:cNvPr id="7" name="Text 3"/>
          <p:cNvSpPr txBox="1"/>
          <p:nvPr/>
        </p:nvSpPr>
        <p:spPr>
          <a:xfrm>
            <a:off x="4846320" y="1280160"/>
            <a:ext cx="3840480" cy="274320"/>
          </a:xfrm>
          <a:prstGeom prst="rect">
            <a:avLst/>
          </a:prstGeom>
          <a:noFill/>
          <a:ln/>
        </p:spPr>
        <p:txBody>
          <a:bodyPr wrap="square" lIns="0" tIns="0" rIns="0" bIns="0" rtlCol="0" anchor="t"/>
          <a:lstStyle/>
          <a:p>
            <a:pPr indent="0" marL="0">
              <a:buNone/>
            </a:pPr>
            <a:r>
              <a:rPr lang="en-US" sz="1400" b="1" dirty="0">
                <a:solidFill>
                  <a:srgbClr val="2E75B6"/>
                </a:solidFill>
                <a:latin typeface="Calibri" pitchFamily="34" charset="0"/>
                <a:ea typeface="Calibri" pitchFamily="34" charset="-122"/>
                <a:cs typeface="Calibri" pitchFamily="34" charset="-120"/>
              </a:rPr>
              <a:t>What the diagnostic checks</a:t>
            </a:r>
            <a:endParaRPr lang="en-US" sz="1400" dirty="0"/>
          </a:p>
        </p:txBody>
      </p:sp>
      <p:sp>
        <p:nvSpPr>
          <p:cNvPr id="8" name="Text 4"/>
          <p:cNvSpPr txBox="1"/>
          <p:nvPr/>
        </p:nvSpPr>
        <p:spPr>
          <a:xfrm>
            <a:off x="4846320" y="1645920"/>
            <a:ext cx="38404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62626"/>
                </a:solidFill>
                <a:latin typeface="Calibri" pitchFamily="34" charset="0"/>
                <a:ea typeface="Calibri" pitchFamily="34" charset="-122"/>
                <a:cs typeface="Calibri" pitchFamily="34" charset="-120"/>
              </a:rPr>
              <a:t>Clinic capacity</a:t>
            </a:r>
            <a:endParaRPr lang="en-US" sz="1400" dirty="0"/>
          </a:p>
          <a:p>
            <a:pPr marL="342900" indent="-342900">
              <a:spcAft>
                <a:spcPts val="600"/>
              </a:spcAft>
              <a:buSzPct val="100000"/>
              <a:buChar char="•"/>
            </a:pPr>
            <a:r>
              <a:rPr lang="en-US" sz="1400" dirty="0">
                <a:solidFill>
                  <a:srgbClr val="262626"/>
                </a:solidFill>
                <a:latin typeface="Calibri" pitchFamily="34" charset="0"/>
                <a:ea typeface="Calibri" pitchFamily="34" charset="-122"/>
                <a:cs typeface="Calibri" pitchFamily="34" charset="-120"/>
              </a:rPr>
              <a:t>Slot availability</a:t>
            </a:r>
            <a:endParaRPr lang="en-US" sz="1400" dirty="0"/>
          </a:p>
          <a:p>
            <a:pPr marL="342900" indent="-342900">
              <a:spcAft>
                <a:spcPts val="600"/>
              </a:spcAft>
              <a:buSzPct val="100000"/>
              <a:buChar char="•"/>
            </a:pPr>
            <a:r>
              <a:rPr lang="en-US" sz="1400" dirty="0">
                <a:solidFill>
                  <a:srgbClr val="262626"/>
                </a:solidFill>
                <a:latin typeface="Calibri" pitchFamily="34" charset="0"/>
                <a:ea typeface="Calibri" pitchFamily="34" charset="-122"/>
                <a:cs typeface="Calibri" pitchFamily="34" charset="-120"/>
              </a:rPr>
              <a:t>Booking conversion</a:t>
            </a:r>
            <a:endParaRPr lang="en-US" sz="1400" dirty="0"/>
          </a:p>
          <a:p>
            <a:pPr marL="342900" indent="-342900">
              <a:spcAft>
                <a:spcPts val="600"/>
              </a:spcAft>
              <a:buSzPct val="100000"/>
              <a:buChar char="•"/>
            </a:pPr>
            <a:r>
              <a:rPr lang="en-US" sz="1400" dirty="0">
                <a:solidFill>
                  <a:srgbClr val="262626"/>
                </a:solidFill>
                <a:latin typeface="Calibri" pitchFamily="34" charset="0"/>
                <a:ea typeface="Calibri" pitchFamily="34" charset="-122"/>
                <a:cs typeface="Calibri" pitchFamily="34" charset="-120"/>
              </a:rPr>
              <a:t>Test mix by city and channel</a:t>
            </a:r>
            <a:endParaRPr lang="en-US" sz="1400" dirty="0"/>
          </a:p>
          <a:p>
            <a:pPr marL="342900" indent="-342900">
              <a:spcAft>
                <a:spcPts val="600"/>
              </a:spcAft>
              <a:buSzPct val="100000"/>
              <a:buChar char="•"/>
            </a:pPr>
            <a:r>
              <a:rPr lang="en-US" sz="1400" dirty="0">
                <a:solidFill>
                  <a:srgbClr val="262626"/>
                </a:solidFill>
                <a:latin typeface="Calibri" pitchFamily="34" charset="0"/>
                <a:ea typeface="Calibri" pitchFamily="34" charset="-122"/>
                <a:cs typeface="Calibri" pitchFamily="34" charset="-120"/>
              </a:rPr>
              <a:t>Then pilot one targeted fix once the cause is confirmed</a:t>
            </a:r>
            <a:endParaRPr lang="en-US" sz="1400" dirty="0"/>
          </a:p>
        </p:txBody>
      </p:sp>
      <p:sp>
        <p:nvSpPr>
          <p:cNvPr id="9" name="Shape 5"/>
          <p:cNvSpPr/>
          <p:nvPr/>
        </p:nvSpPr>
        <p:spPr>
          <a:xfrm>
            <a:off x="4846320" y="3474720"/>
            <a:ext cx="3840480" cy="777240"/>
          </a:xfrm>
          <a:prstGeom prst="rect">
            <a:avLst/>
          </a:prstGeom>
          <a:solidFill>
            <a:srgbClr val="1F3A5F"/>
          </a:solidFill>
          <a:ln w="12700">
            <a:solidFill>
              <a:srgbClr val="1F3A5F"/>
            </a:solidFill>
            <a:prstDash val="solid"/>
          </a:ln>
        </p:spPr>
      </p:sp>
      <p:sp>
        <p:nvSpPr>
          <p:cNvPr id="10" name="Text 6"/>
          <p:cNvSpPr txBox="1"/>
          <p:nvPr/>
        </p:nvSpPr>
        <p:spPr>
          <a:xfrm>
            <a:off x="4983480" y="3474720"/>
            <a:ext cx="356616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Decision requested: </a:t>
            </a:r>
            <a:pPr indent="0" marL="0">
              <a:buNone/>
            </a:pPr>
            <a:r>
              <a:rPr lang="en-US" sz="1300" dirty="0">
                <a:solidFill>
                  <a:srgbClr val="FFFFFF"/>
                </a:solidFill>
                <a:latin typeface="Calibri" pitchFamily="34" charset="0"/>
                <a:ea typeface="Calibri" pitchFamily="34" charset="-122"/>
                <a:cs typeface="Calibri" pitchFamily="34" charset="-120"/>
              </a:rPr>
              <a:t>approve the diagnostic before funding a larger growth intervention.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457200" y="274320"/>
            <a:ext cx="7589520" cy="640080"/>
          </a:xfrm>
          <a:prstGeom prst="rect">
            <a:avLst/>
          </a:prstGeom>
          <a:noFill/>
          <a:ln/>
        </p:spPr>
        <p:txBody>
          <a:bodyPr wrap="square" lIns="0" tIns="0" rIns="0" bIns="0" rtlCol="0" anchor="ctr"/>
          <a:lstStyle/>
          <a:p>
            <a:pPr algn="l" indent="0" marL="0">
              <a:buNone/>
            </a:pPr>
            <a:r>
              <a:rPr lang="en-US" sz="2400" b="1" dirty="0">
                <a:solidFill>
                  <a:srgbClr val="1F3A5F"/>
                </a:solidFill>
                <a:latin typeface="Calibri" pitchFamily="34" charset="0"/>
                <a:ea typeface="Calibri" pitchFamily="34" charset="-122"/>
                <a:cs typeface="Calibri" pitchFamily="34" charset="-120"/>
              </a:rPr>
              <a:t>Appendix: data used and checks</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468880"/>
                <a:gridCol w="1188720"/>
                <a:gridCol w="4572000"/>
              </a:tblGrid>
              <a:tr h="365760">
                <a:tc>
                  <a:txBody>
                    <a:bodyPr/>
                    <a:lstStyle/>
                    <a:p>
                      <a:pPr algn="l" indent="0" marL="0">
                        <a:buNone/>
                      </a:pPr>
                      <a:r>
                        <a:rPr lang="en-US" sz="1300" b="1" dirty="0">
                          <a:solidFill>
                            <a:srgbClr val="1F3A5F"/>
                          </a:solidFill>
                          <a:latin typeface="Calibri" pitchFamily="34" charset="0"/>
                          <a:ea typeface="Calibri" pitchFamily="34" charset="-122"/>
                          <a:cs typeface="Calibri" pitchFamily="34" charset="-120"/>
                        </a:rPr>
                        <a:t>Source table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r" indent="0" marL="0">
                        <a:buNone/>
                      </a:pPr>
                      <a:r>
                        <a:rPr lang="en-US" sz="1300" b="1" dirty="0">
                          <a:solidFill>
                            <a:srgbClr val="1F3A5F"/>
                          </a:solidFill>
                          <a:latin typeface="Calibri" pitchFamily="34" charset="0"/>
                          <a:ea typeface="Calibri" pitchFamily="34" charset="-122"/>
                          <a:cs typeface="Calibri" pitchFamily="34" charset="-120"/>
                        </a:rPr>
                        <a:t>Rows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c>
                  <a:txBody>
                    <a:bodyPr/>
                    <a:lstStyle/>
                    <a:p>
                      <a:pPr algn="l" indent="0" marL="0">
                        <a:buNone/>
                      </a:pPr>
                      <a:r>
                        <a:rPr lang="en-US" sz="1300" b="1" dirty="0">
                          <a:solidFill>
                            <a:srgbClr val="1F3A5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1F3A5F"/>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bookings_combined.csv</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1,279,308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568,007 unique booking IDs; 711,301 exact repeated rows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booking_tests.csv</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1,315,183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0 exact duplicates; kept at test-line grain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plan_2026_H1.csv</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One row per city, monthly H1 2026 targets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patients.csv</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309,217</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Patient records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65760">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results_combined.csv</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rgbClr val="262626"/>
                          </a:solidFill>
                          <a:latin typeface="Calibri" pitchFamily="34" charset="0"/>
                          <a:ea typeface="Calibri" pitchFamily="34" charset="-122"/>
                          <a:cs typeface="Calibri" pitchFamily="34" charset="-120"/>
                        </a:rPr>
                        <a:t>1,078,420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Result rows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5" name="Text 1"/>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1200" dirty="0">
                <a:solidFill>
                  <a:srgbClr val="595959"/>
                </a:solidFill>
                <a:latin typeface="Calibri" pitchFamily="34" charset="0"/>
                <a:ea typeface="Calibri" pitchFamily="34" charset="-122"/>
                <a:cs typeface="Calibri" pitchFamily="34" charset="-120"/>
              </a:rPr>
              <a:t>Booking metadata is reduced to one row per booking ID, then joined many-to-one to test lines. Notebook checks found 0 metadata conflicts and 0 unmatched channels. Period: January to June 2025 vs January to June 2026.</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did H1 test growth miss plan?</dc:title>
  <dc:subject>PptxGenJS Presentation</dc:subject>
  <dc:creator>Kalpa Health Analytics</dc:creator>
  <cp:lastModifiedBy>Kalpa Health Analytics</cp:lastModifiedBy>
  <cp:revision>1</cp:revision>
  <dcterms:created xsi:type="dcterms:W3CDTF">2026-10-25T12:01:09Z</dcterms:created>
  <dcterms:modified xsi:type="dcterms:W3CDTF">2026-10-25T12:01:09Z</dcterms:modified>
</cp:coreProperties>
</file>